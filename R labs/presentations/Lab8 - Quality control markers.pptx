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627" r:id="rId2"/>
    <p:sldId id="279" r:id="rId3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1"/>
    <p:restoredTop sz="94669"/>
  </p:normalViewPr>
  <p:slideViewPr>
    <p:cSldViewPr snapToGrid="0" snapToObjects="1">
      <p:cViewPr varScale="1">
        <p:scale>
          <a:sx n="152" d="100"/>
          <a:sy n="152" d="100"/>
        </p:scale>
        <p:origin x="320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AA34A-B98B-374C-9696-DDF9501E09F3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36040-656E-2D4D-968D-94ED36AD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1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6E946-4E9C-4094-B6E0-07BF07D4B72E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23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36040-656E-2D4D-968D-94ED36ADA2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00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0A359-2FB3-4847-9D97-3491754AA7F9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4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8603A-2399-D64A-8203-C8F297F981E8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35563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71F39-3D09-F149-B1A1-DC2A7DB4A435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8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7E973-E761-9943-801C-DE1E51E28431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6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50504"/>
            <a:ext cx="8229600" cy="80129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E534-2B3A-FA4B-B87A-8AC244117610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9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DFFB5-C0BC-DE4D-9A38-E0EE75FC9E15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8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70F-F7E3-1F40-B6F3-59FE945D5A70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0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E9B0-C3DF-544F-BB14-A487ECCC7F43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4B1CF-5E0C-5D41-A3E2-D78942339385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0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C5DAC-1A13-D34F-9418-D6257772B49C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9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C0D93-568E-6D41-8E6D-0963A71A503C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266950"/>
            <a:ext cx="8229600" cy="2327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944504B-B211-B34D-97AF-78446C71FCDD}" type="datetimeFigureOut">
              <a:rPr lang="en-US" smtClean="0"/>
              <a:pPr>
                <a:defRPr/>
              </a:pPr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52194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8;p17">
            <a:extLst>
              <a:ext uri="{FF2B5EF4-FFF2-40B4-BE49-F238E27FC236}">
                <a16:creationId xmlns:a16="http://schemas.microsoft.com/office/drawing/2014/main" id="{FAC5967D-1FC5-1C4E-9B47-CD7C30D04CB2}"/>
              </a:ext>
            </a:extLst>
          </p:cNvPr>
          <p:cNvSpPr txBox="1">
            <a:spLocks/>
          </p:cNvSpPr>
          <p:nvPr/>
        </p:nvSpPr>
        <p:spPr>
          <a:xfrm>
            <a:off x="415635" y="2214099"/>
            <a:ext cx="8312727" cy="9447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cs typeface="Times New Roman" panose="02020603050405020304" pitchFamily="18" charset="0"/>
              </a:rPr>
              <a:t>Quality control on markers</a:t>
            </a:r>
          </a:p>
        </p:txBody>
      </p:sp>
      <p:sp>
        <p:nvSpPr>
          <p:cNvPr id="10" name="Google Shape;89;p17">
            <a:extLst>
              <a:ext uri="{FF2B5EF4-FFF2-40B4-BE49-F238E27FC236}">
                <a16:creationId xmlns:a16="http://schemas.microsoft.com/office/drawing/2014/main" id="{99D5CA0B-F10C-B148-9ADF-BEB8C1CC30F9}"/>
              </a:ext>
            </a:extLst>
          </p:cNvPr>
          <p:cNvSpPr txBox="1">
            <a:spLocks/>
          </p:cNvSpPr>
          <p:nvPr/>
        </p:nvSpPr>
        <p:spPr>
          <a:xfrm>
            <a:off x="1406045" y="3606328"/>
            <a:ext cx="6331909" cy="11609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Garamond" panose="02020404030301010803" pitchFamily="18" charset="0"/>
                <a:cs typeface="Times New Roman" pitchFamily="18" charset="0"/>
              </a:rPr>
              <a:t>Roberto Fritsche-Neto</a:t>
            </a:r>
          </a:p>
          <a:p>
            <a:pPr marL="0" indent="0" algn="ctr">
              <a:buNone/>
            </a:pPr>
            <a:r>
              <a:rPr lang="en-US" sz="1500" dirty="0">
                <a:latin typeface="Garamond" panose="02020404030301010803" pitchFamily="18" charset="0"/>
                <a:cs typeface="Times New Roman" pitchFamily="18" charset="0"/>
              </a:rPr>
              <a:t>Assistant Professor - Vegetable Molecular Breeding</a:t>
            </a:r>
          </a:p>
          <a:p>
            <a:pPr marL="0" indent="0" algn="ctr">
              <a:buNone/>
            </a:pPr>
            <a:endParaRPr lang="en-US" sz="1500" dirty="0">
              <a:latin typeface="Garamond" panose="02020404030301010803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500" b="1">
                <a:solidFill>
                  <a:srgbClr val="C00000"/>
                </a:solidFill>
                <a:latin typeface="Garamond" panose="02020404030301010803" pitchFamily="18" charset="0"/>
                <a:cs typeface="Times New Roman" pitchFamily="18" charset="0"/>
              </a:rPr>
              <a:t>2026</a:t>
            </a:r>
            <a:endParaRPr lang="en-US" sz="1500" dirty="0">
              <a:latin typeface="Garamond" panose="02020404030301010803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55D11-4277-D210-2D3D-604584320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D4FFB-4E99-450A-8CB0-F98DC51F07B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189A9E52-426E-EC94-92A8-622436F87D02}"/>
              </a:ext>
            </a:extLst>
          </p:cNvPr>
          <p:cNvSpPr txBox="1">
            <a:spLocks/>
          </p:cNvSpPr>
          <p:nvPr/>
        </p:nvSpPr>
        <p:spPr>
          <a:xfrm>
            <a:off x="415636" y="579209"/>
            <a:ext cx="8312727" cy="15215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Garamond" panose="02020404030301010803" pitchFamily="18" charset="0"/>
                <a:cs typeface="Times New Roman" pitchFamily="18" charset="0"/>
              </a:rPr>
              <a:t>College of Agriculture and Life Sciences</a:t>
            </a:r>
          </a:p>
          <a:p>
            <a:r>
              <a:rPr lang="en-US" sz="1800" dirty="0">
                <a:latin typeface="Garamond" panose="02020404030301010803" pitchFamily="18" charset="0"/>
                <a:cs typeface="Times New Roman" pitchFamily="18" charset="0"/>
              </a:rPr>
              <a:t>Department of Horticulture Sciences</a:t>
            </a:r>
          </a:p>
          <a:p>
            <a:r>
              <a:rPr lang="en-US" sz="1800" dirty="0">
                <a:latin typeface="Garamond" panose="02020404030301010803" pitchFamily="18" charset="0"/>
                <a:cs typeface="Times New Roman" pitchFamily="18" charset="0"/>
              </a:rPr>
              <a:t>Plant Breeding Consortium</a:t>
            </a:r>
          </a:p>
          <a:p>
            <a:r>
              <a:rPr lang="en-US" altLang="x-none" sz="1800" dirty="0">
                <a:latin typeface="Garamond" panose="02020404030301010803" pitchFamily="18" charset="0"/>
                <a:cs typeface="Times New Roman" pitchFamily="18" charset="0"/>
              </a:rPr>
              <a:t>CS/HS 541 Plant Breeding Methods</a:t>
            </a:r>
            <a:endParaRPr lang="en-US" sz="1800" dirty="0">
              <a:latin typeface="Garamond" panose="02020404030301010803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5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49287" y="189315"/>
            <a:ext cx="6172200" cy="65127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Steps</a:t>
            </a:r>
            <a:endParaRPr lang="pt-BR" altLang="pt-BR" sz="2700" b="1" dirty="0"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279" y="512392"/>
            <a:ext cx="3114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algn="just">
              <a:buFont typeface="Arial" charset="0"/>
              <a:buChar char="•"/>
            </a:pPr>
            <a:r>
              <a:rPr lang="en-US" sz="16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Sweep samples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sz="1600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Eliminate individuals with low quality regarding genotyping</a:t>
            </a:r>
            <a:endParaRPr lang="en-US" sz="1600" b="1" dirty="0">
              <a:solidFill>
                <a:srgbClr val="FF0000"/>
              </a:solidFill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  <a:p>
            <a:pPr marL="257175" indent="-257175" algn="just">
              <a:buFont typeface="Arial" charset="0"/>
              <a:buChar char="•"/>
            </a:pPr>
            <a:r>
              <a:rPr lang="en-US" sz="16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Call rate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sz="1600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Eliminate markers with low quality across all individuals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sz="16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MAF</a:t>
            </a:r>
            <a:endParaRPr lang="en-US" sz="1600" dirty="0"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  <a:p>
            <a:pPr marL="257175" indent="-257175" algn="just">
              <a:buFont typeface="Arial" charset="0"/>
              <a:buChar char="•"/>
            </a:pPr>
            <a:r>
              <a:rPr lang="en-US" sz="1600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Eliminate monomorphic markers and with low-frequency alleles (&lt;0.05)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charset="0"/>
              </a:rPr>
              <a:t>Other filters </a:t>
            </a:r>
            <a:r>
              <a:rPr lang="en-US" sz="16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– Het, HWE and LD</a:t>
            </a:r>
            <a:endParaRPr lang="en-US" sz="1600" b="1" dirty="0">
              <a:solidFill>
                <a:srgbClr val="FF0000"/>
              </a:solidFill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  <a:p>
            <a:pPr marL="257175" indent="-257175" algn="just">
              <a:buFont typeface="Arial" charset="0"/>
              <a:buChar char="•"/>
            </a:pPr>
            <a:r>
              <a:rPr lang="en-US" sz="1600" b="1" dirty="0" err="1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charset="0"/>
              </a:rPr>
              <a:t>Inputation</a:t>
            </a:r>
            <a:endParaRPr lang="en-US" sz="1600" b="1" dirty="0">
              <a:solidFill>
                <a:srgbClr val="FF0000"/>
              </a:solidFill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  <a:p>
            <a:pPr marL="257175" indent="-257175" algn="just">
              <a:buFont typeface="Arial" charset="0"/>
              <a:buChar char="•"/>
            </a:pPr>
            <a:r>
              <a:rPr lang="en-US" sz="1600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Replace NA with a likely genotype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charset="0"/>
              </a:rPr>
              <a:t>Recode</a:t>
            </a:r>
          </a:p>
          <a:p>
            <a:pPr marL="257175" indent="-257175" algn="just">
              <a:buFont typeface="Arial" charset="0"/>
              <a:buChar char="•"/>
            </a:pPr>
            <a:r>
              <a:rPr lang="en-US" sz="1600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Recode the matrix to an incidence matrix (0, 1, or 2)</a:t>
            </a:r>
            <a:r>
              <a:rPr lang="en-US" sz="1600" b="1" dirty="0">
                <a:solidFill>
                  <a:srgbClr val="FF0000"/>
                </a:solidFill>
                <a:latin typeface="Garamond" panose="02020404030301010803" pitchFamily="18" charset="0"/>
                <a:ea typeface="Times New Roman" charset="0"/>
                <a:cs typeface="Times New Roman" charset="0"/>
              </a:rPr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934AD8-115E-A943-ACE1-3FC55526F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856525"/>
              </p:ext>
            </p:extLst>
          </p:nvPr>
        </p:nvGraphicFramePr>
        <p:xfrm>
          <a:off x="3211829" y="1307451"/>
          <a:ext cx="2902746" cy="167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425">
                  <a:extLst>
                    <a:ext uri="{9D8B030D-6E8A-4147-A177-3AD203B41FA5}">
                      <a16:colId xmlns:a16="http://schemas.microsoft.com/office/drawing/2014/main" val="3462828229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143144204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665354491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266008145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046045291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1726001400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2118214930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838830645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479932239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175439664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9250162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snp2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snp3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snp5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snp6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snp7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snp8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snp9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snp10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2537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9648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CT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TT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0175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3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CC</a:t>
                      </a:r>
                      <a:endParaRPr lang="en-US" sz="8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493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8861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TT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8903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NA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74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7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080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8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2449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9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267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10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9472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CD6039-F158-F548-8E19-EBDDD861C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961137"/>
              </p:ext>
            </p:extLst>
          </p:nvPr>
        </p:nvGraphicFramePr>
        <p:xfrm>
          <a:off x="3211829" y="3055081"/>
          <a:ext cx="2807496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228">
                  <a:extLst>
                    <a:ext uri="{9D8B030D-6E8A-4147-A177-3AD203B41FA5}">
                      <a16:colId xmlns:a16="http://schemas.microsoft.com/office/drawing/2014/main" val="3462828229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143144204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665354491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266008145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046045291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1726001400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2118214930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838830645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479932239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1754396649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59250162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snp2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snp3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snp5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snp6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snp7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snp8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snp9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snp10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2537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9648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CT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TT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0175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8861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TT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8903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NA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74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7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080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8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2449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9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267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10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947228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34CD212-A88D-664F-99FC-7A0E137C0721}"/>
              </a:ext>
            </a:extLst>
          </p:cNvPr>
          <p:cNvSpPr/>
          <p:nvPr/>
        </p:nvSpPr>
        <p:spPr>
          <a:xfrm>
            <a:off x="3170419" y="1799475"/>
            <a:ext cx="2970068" cy="138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888496-00EB-DB4D-ABE0-FCE34482017D}"/>
              </a:ext>
            </a:extLst>
          </p:cNvPr>
          <p:cNvSpPr/>
          <p:nvPr/>
        </p:nvSpPr>
        <p:spPr>
          <a:xfrm rot="5400000">
            <a:off x="3344456" y="3711691"/>
            <a:ext cx="1524000" cy="231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1FEE075-522E-384F-894D-9D959AE54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365411"/>
              </p:ext>
            </p:extLst>
          </p:nvPr>
        </p:nvGraphicFramePr>
        <p:xfrm>
          <a:off x="6273511" y="488571"/>
          <a:ext cx="2562227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228">
                  <a:extLst>
                    <a:ext uri="{9D8B030D-6E8A-4147-A177-3AD203B41FA5}">
                      <a16:colId xmlns:a16="http://schemas.microsoft.com/office/drawing/2014/main" val="3462828229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143144204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665354491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046045291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1726001400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2118214930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838830645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479932239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1754396649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59250162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snp2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snp5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snp6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snp7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snp8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snp9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snp10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2537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9648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CT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TT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0175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8861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CC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TT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8903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NA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74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7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080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8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2449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9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267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10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CC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947228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A90DE878-F84D-424B-B922-D64198BDF750}"/>
              </a:ext>
            </a:extLst>
          </p:cNvPr>
          <p:cNvSpPr/>
          <p:nvPr/>
        </p:nvSpPr>
        <p:spPr>
          <a:xfrm rot="5400000">
            <a:off x="6340489" y="1145181"/>
            <a:ext cx="1676400" cy="231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2E136-48AC-F24B-A4E0-0282C012E58E}"/>
              </a:ext>
            </a:extLst>
          </p:cNvPr>
          <p:cNvSpPr/>
          <p:nvPr/>
        </p:nvSpPr>
        <p:spPr>
          <a:xfrm rot="5400000">
            <a:off x="5834538" y="1145181"/>
            <a:ext cx="1676400" cy="231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274BECF-76A6-B746-9DE1-856D9671C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833614"/>
              </p:ext>
            </p:extLst>
          </p:nvPr>
        </p:nvGraphicFramePr>
        <p:xfrm>
          <a:off x="6288751" y="2186339"/>
          <a:ext cx="1883355" cy="1259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844">
                  <a:extLst>
                    <a:ext uri="{9D8B030D-6E8A-4147-A177-3AD203B41FA5}">
                      <a16:colId xmlns:a16="http://schemas.microsoft.com/office/drawing/2014/main" val="3462828229"/>
                    </a:ext>
                  </a:extLst>
                </a:gridCol>
                <a:gridCol w="222972">
                  <a:extLst>
                    <a:ext uri="{9D8B030D-6E8A-4147-A177-3AD203B41FA5}">
                      <a16:colId xmlns:a16="http://schemas.microsoft.com/office/drawing/2014/main" val="3665354491"/>
                    </a:ext>
                  </a:extLst>
                </a:gridCol>
                <a:gridCol w="222972">
                  <a:extLst>
                    <a:ext uri="{9D8B030D-6E8A-4147-A177-3AD203B41FA5}">
                      <a16:colId xmlns:a16="http://schemas.microsoft.com/office/drawing/2014/main" val="1726001400"/>
                    </a:ext>
                  </a:extLst>
                </a:gridCol>
                <a:gridCol w="222972">
                  <a:extLst>
                    <a:ext uri="{9D8B030D-6E8A-4147-A177-3AD203B41FA5}">
                      <a16:colId xmlns:a16="http://schemas.microsoft.com/office/drawing/2014/main" val="2118214930"/>
                    </a:ext>
                  </a:extLst>
                </a:gridCol>
                <a:gridCol w="222972">
                  <a:extLst>
                    <a:ext uri="{9D8B030D-6E8A-4147-A177-3AD203B41FA5}">
                      <a16:colId xmlns:a16="http://schemas.microsoft.com/office/drawing/2014/main" val="3838830645"/>
                    </a:ext>
                  </a:extLst>
                </a:gridCol>
                <a:gridCol w="222972">
                  <a:extLst>
                    <a:ext uri="{9D8B030D-6E8A-4147-A177-3AD203B41FA5}">
                      <a16:colId xmlns:a16="http://schemas.microsoft.com/office/drawing/2014/main" val="3479932239"/>
                    </a:ext>
                  </a:extLst>
                </a:gridCol>
                <a:gridCol w="222972">
                  <a:extLst>
                    <a:ext uri="{9D8B030D-6E8A-4147-A177-3AD203B41FA5}">
                      <a16:colId xmlns:a16="http://schemas.microsoft.com/office/drawing/2014/main" val="1754396649"/>
                    </a:ext>
                  </a:extLst>
                </a:gridCol>
                <a:gridCol w="271679">
                  <a:extLst>
                    <a:ext uri="{9D8B030D-6E8A-4147-A177-3AD203B41FA5}">
                      <a16:colId xmlns:a16="http://schemas.microsoft.com/office/drawing/2014/main" val="2592501625"/>
                    </a:ext>
                  </a:extLst>
                </a:gridCol>
              </a:tblGrid>
              <a:tr h="125950">
                <a:tc>
                  <a:txBody>
                    <a:bodyPr/>
                    <a:lstStyle/>
                    <a:p>
                      <a:pPr algn="ctr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snp2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snp5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snp6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snp7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snp8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snp9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>
                          <a:effectLst/>
                        </a:rPr>
                        <a:t>snp10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253728"/>
                  </a:ext>
                </a:extLst>
              </a:tr>
              <a:tr h="125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 err="1">
                          <a:effectLst/>
                        </a:rPr>
                        <a:t>gid</a:t>
                      </a:r>
                      <a:r>
                        <a:rPr lang="en-US" sz="600" b="1" u="none" strike="noStrike" dirty="0">
                          <a:effectLst/>
                        </a:rPr>
                        <a:t> 1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CG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CC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964850"/>
                  </a:ext>
                </a:extLst>
              </a:tr>
              <a:tr h="125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>
                          <a:effectLst/>
                        </a:rPr>
                        <a:t>gid 2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TT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CG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CC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017565"/>
                  </a:ext>
                </a:extLst>
              </a:tr>
              <a:tr h="125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 err="1">
                          <a:effectLst/>
                        </a:rPr>
                        <a:t>gid</a:t>
                      </a:r>
                      <a:r>
                        <a:rPr lang="en-US" sz="600" b="1" u="none" strike="noStrike" dirty="0">
                          <a:effectLst/>
                        </a:rPr>
                        <a:t> 4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CC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TT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CC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GG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886153"/>
                  </a:ext>
                </a:extLst>
              </a:tr>
              <a:tr h="125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>
                          <a:effectLst/>
                        </a:rPr>
                        <a:t>gid 5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GG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TT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TT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890317"/>
                  </a:ext>
                </a:extLst>
              </a:tr>
              <a:tr h="125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>
                          <a:effectLst/>
                        </a:rPr>
                        <a:t>gid 6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CC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GG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TT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NA</a:t>
                      </a:r>
                      <a:endParaRPr lang="en-US" sz="6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7470"/>
                  </a:ext>
                </a:extLst>
              </a:tr>
              <a:tr h="125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 err="1">
                          <a:effectLst/>
                        </a:rPr>
                        <a:t>gid</a:t>
                      </a:r>
                      <a:r>
                        <a:rPr lang="en-US" sz="600" b="1" u="none" strike="noStrike" dirty="0">
                          <a:effectLst/>
                        </a:rPr>
                        <a:t> 7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GG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TT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AA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08088"/>
                  </a:ext>
                </a:extLst>
              </a:tr>
              <a:tr h="125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 err="1">
                          <a:effectLst/>
                        </a:rPr>
                        <a:t>gid</a:t>
                      </a:r>
                      <a:r>
                        <a:rPr lang="en-US" sz="600" b="1" u="none" strike="noStrike" dirty="0">
                          <a:effectLst/>
                        </a:rPr>
                        <a:t> 8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AT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CG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TT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AA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244999"/>
                  </a:ext>
                </a:extLst>
              </a:tr>
              <a:tr h="125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 err="1">
                          <a:effectLst/>
                        </a:rPr>
                        <a:t>gid</a:t>
                      </a:r>
                      <a:r>
                        <a:rPr lang="en-US" sz="600" b="1" u="none" strike="noStrike" dirty="0">
                          <a:effectLst/>
                        </a:rPr>
                        <a:t> 9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CG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GG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TT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AA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267183"/>
                  </a:ext>
                </a:extLst>
              </a:tr>
              <a:tr h="125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b="1" u="none" strike="noStrike" dirty="0" err="1">
                          <a:effectLst/>
                        </a:rPr>
                        <a:t>gid</a:t>
                      </a:r>
                      <a:r>
                        <a:rPr lang="en-US" sz="600" b="1" u="none" strike="noStrike" dirty="0">
                          <a:effectLst/>
                        </a:rPr>
                        <a:t> 10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GG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AC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GG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AT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 dirty="0">
                          <a:effectLst/>
                        </a:rPr>
                        <a:t>AG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95" marR="6495" marT="590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94722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632099C-2376-654A-9041-7FE56080D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782391"/>
              </p:ext>
            </p:extLst>
          </p:nvPr>
        </p:nvGraphicFramePr>
        <p:xfrm>
          <a:off x="6273877" y="3527207"/>
          <a:ext cx="2071689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228">
                  <a:extLst>
                    <a:ext uri="{9D8B030D-6E8A-4147-A177-3AD203B41FA5}">
                      <a16:colId xmlns:a16="http://schemas.microsoft.com/office/drawing/2014/main" val="3462828229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665354491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1726001400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2118214930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838830645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3479932239"/>
                    </a:ext>
                  </a:extLst>
                </a:gridCol>
                <a:gridCol w="245269">
                  <a:extLst>
                    <a:ext uri="{9D8B030D-6E8A-4147-A177-3AD203B41FA5}">
                      <a16:colId xmlns:a16="http://schemas.microsoft.com/office/drawing/2014/main" val="1754396649"/>
                    </a:ext>
                  </a:extLst>
                </a:gridCol>
                <a:gridCol w="298847">
                  <a:extLst>
                    <a:ext uri="{9D8B030D-6E8A-4147-A177-3AD203B41FA5}">
                      <a16:colId xmlns:a16="http://schemas.microsoft.com/office/drawing/2014/main" val="259250162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snp2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snp5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snp6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snp7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snp8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snp9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snp10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2537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9648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2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TT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0175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CC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8861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5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TT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8903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>
                          <a:effectLst/>
                        </a:rPr>
                        <a:t>gid 6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74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7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080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8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2449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9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CG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TT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267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 err="1">
                          <a:effectLst/>
                        </a:rPr>
                        <a:t>gid</a:t>
                      </a:r>
                      <a:r>
                        <a:rPr lang="en-US" sz="800" b="1" u="none" strike="noStrike" dirty="0">
                          <a:effectLst/>
                        </a:rPr>
                        <a:t> 10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GG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AG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94722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A56E97B-BBBA-E241-9FF5-66250E224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496286"/>
              </p:ext>
            </p:extLst>
          </p:nvPr>
        </p:nvGraphicFramePr>
        <p:xfrm>
          <a:off x="8597066" y="3527207"/>
          <a:ext cx="298847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847">
                  <a:extLst>
                    <a:ext uri="{9D8B030D-6E8A-4147-A177-3AD203B41FA5}">
                      <a16:colId xmlns:a16="http://schemas.microsoft.com/office/drawing/2014/main" val="259250162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u="none" strike="noStrike" dirty="0">
                          <a:effectLst/>
                        </a:rPr>
                        <a:t>snp10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2537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9648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0175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8861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8903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74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080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2449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267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 dirty="0">
                          <a:effectLst/>
                        </a:rPr>
                        <a:t>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947228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816949D9-3A33-484B-A608-78CF5BEF291D}"/>
              </a:ext>
            </a:extLst>
          </p:cNvPr>
          <p:cNvSpPr/>
          <p:nvPr/>
        </p:nvSpPr>
        <p:spPr>
          <a:xfrm rot="5400000">
            <a:off x="7704804" y="3865527"/>
            <a:ext cx="1600199" cy="923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4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7" grpId="0" animBg="1"/>
      <p:bldP spid="18" grpId="0" animBg="1"/>
      <p:bldP spid="22" grpId="0" animBg="1"/>
    </p:bldLst>
  </p:timing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NCStateU-horizontal-left-logo</Template>
  <TotalTime>275</TotalTime>
  <Words>640</Words>
  <Application>Microsoft Macintosh PowerPoint</Application>
  <PresentationFormat>On-screen Show (16:9)</PresentationFormat>
  <Paragraphs>520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Garamond</vt:lpstr>
      <vt:lpstr>NCStateU-horizontal-left-logo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Fritsche Neto</dc:creator>
  <cp:lastModifiedBy>Roberto Fritsche Neto</cp:lastModifiedBy>
  <cp:revision>69</cp:revision>
  <dcterms:created xsi:type="dcterms:W3CDTF">2025-05-02T14:01:45Z</dcterms:created>
  <dcterms:modified xsi:type="dcterms:W3CDTF">2026-06-02T19:14:51Z</dcterms:modified>
</cp:coreProperties>
</file>