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627" r:id="rId2"/>
    <p:sldId id="285" r:id="rId3"/>
    <p:sldId id="280" r:id="rId4"/>
    <p:sldId id="286" r:id="rId5"/>
    <p:sldId id="284" r:id="rId6"/>
    <p:sldId id="287" r:id="rId7"/>
    <p:sldId id="288" r:id="rId8"/>
  </p:sldIdLst>
  <p:sldSz cx="9144000" cy="5143500" type="screen16x9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401"/>
    <p:restoredTop sz="94669"/>
  </p:normalViewPr>
  <p:slideViewPr>
    <p:cSldViewPr snapToGrid="0" snapToObjects="1">
      <p:cViewPr varScale="1">
        <p:scale>
          <a:sx n="152" d="100"/>
          <a:sy n="152" d="100"/>
        </p:scale>
        <p:origin x="320" y="176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EAA34A-B98B-374C-9696-DDF9501E09F3}" type="datetimeFigureOut">
              <a:rPr lang="en-US" smtClean="0"/>
              <a:t>6/2/26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A36040-656E-2D4D-968D-94ED36ADA2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7181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06E946-4E9C-4094-B6E0-07BF07D4B72E}" type="slidenum">
              <a:rPr lang="pt-BR" smtClean="0"/>
              <a:pPr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782332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090524-93D1-5548-9937-821F0E639D2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6861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090524-93D1-5548-9937-821F0E639D2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812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090524-93D1-5548-9937-821F0E639D2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3201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090524-93D1-5548-9937-821F0E639D2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9930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090524-93D1-5548-9937-821F0E639D2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3407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090524-93D1-5548-9937-821F0E639D2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159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80A359-2FB3-4847-9D97-3491754AA7F9}" type="datetimeFigureOut">
              <a:rPr lang="en-US"/>
              <a:pPr>
                <a:defRPr/>
              </a:pPr>
              <a:t>6/2/26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E82176-A547-F94B-AC51-D6E9C882CB8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4443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8603A-2399-D64A-8203-C8F297F981E8}" type="datetimeFigureOut">
              <a:rPr lang="en-US"/>
              <a:pPr>
                <a:defRPr/>
              </a:pPr>
              <a:t>6/2/26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C605-4958-CF43-AA48-80339EFDB0A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547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035563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F71F39-3D09-F149-B1A1-DC2A7DB4A435}" type="datetimeFigureOut">
              <a:rPr lang="en-US"/>
              <a:pPr>
                <a:defRPr/>
              </a:pPr>
              <a:t>6/2/26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A6BD0F-ABBC-C14D-BC96-77BE126A748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8860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76377"/>
            <a:ext cx="4038600" cy="311824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76377"/>
            <a:ext cx="4038600" cy="311824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E7E973-E761-9943-801C-DE1E51E28431}" type="datetimeFigureOut">
              <a:rPr lang="en-US"/>
              <a:pPr>
                <a:defRPr/>
              </a:pPr>
              <a:t>6/2/26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35E9FC-F6D5-0349-BBED-EA7D7A9BC49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2655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3" y="650504"/>
            <a:ext cx="8229600" cy="80129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ACE534-2B3A-FA4B-B87A-8AC244117610}" type="datetimeFigureOut">
              <a:rPr lang="en-US"/>
              <a:pPr>
                <a:defRPr/>
              </a:pPr>
              <a:t>6/2/26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5B94E0-5E06-6D42-A41D-50D581B4090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3941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CDFFB5-C0BC-DE4D-9A38-E0EE75FC9E15}" type="datetimeFigureOut">
              <a:rPr lang="en-US"/>
              <a:pPr>
                <a:defRPr/>
              </a:pPr>
              <a:t>6/2/26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AB7D4D-4E81-5B40-91F6-CF14C25F862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2860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42570F-F7E3-1F40-B6F3-59FE945D5A70}" type="datetimeFigureOut">
              <a:rPr lang="en-US"/>
              <a:pPr>
                <a:defRPr/>
              </a:pPr>
              <a:t>6/2/26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5B2FA7-4FDB-5643-811E-7991DEE50B0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3071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3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3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71E9B0-C3DF-544F-BB14-A487ECCC7F43}" type="datetimeFigureOut">
              <a:rPr lang="en-US"/>
              <a:pPr>
                <a:defRPr/>
              </a:pPr>
              <a:t>6/2/26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DD8B14-AE1E-054C-8668-93D0F0400A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4024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C4B1CF-5E0C-5D41-A3E2-D78942339385}" type="datetimeFigureOut">
              <a:rPr lang="en-US"/>
              <a:pPr>
                <a:defRPr/>
              </a:pPr>
              <a:t>6/2/26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EF0004-A563-C64B-9FAD-6198662E1BD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909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BC5DAC-1A13-D34F-9418-D6257772B49C}" type="datetimeFigureOut">
              <a:rPr lang="en-US"/>
              <a:pPr>
                <a:defRPr/>
              </a:pPr>
              <a:t>6/2/26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9610A8-B29A-B34A-A0B5-3DF26A2EB85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696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EC0D93-568E-6D41-8E6D-0963A71A503C}" type="datetimeFigureOut">
              <a:rPr lang="en-US"/>
              <a:pPr>
                <a:defRPr/>
              </a:pPr>
              <a:t>6/2/26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2D0221-73D0-6245-9CCD-73A1D8FCB5E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510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675085"/>
            <a:ext cx="8229600" cy="8012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Headline Line One</a:t>
            </a:r>
            <a:br>
              <a:rPr lang="en-US" dirty="0"/>
            </a:br>
            <a:r>
              <a:rPr lang="en-US" dirty="0"/>
              <a:t>Headline Line Two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2266950"/>
            <a:ext cx="8229600" cy="2327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C944504B-B211-B34D-97AF-78446C71FCDD}" type="datetimeFigureOut">
              <a:rPr lang="en-US" smtClean="0"/>
              <a:pPr>
                <a:defRPr/>
              </a:pPr>
              <a:t>6/2/26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0EF7D53D-272A-624E-BE3D-99D13E2B419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52194" cy="4572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Arial"/>
          <a:ea typeface="ＭＳ Ｐゴシック" charset="0"/>
          <a:cs typeface="Arial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  <a:ea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  <a:ea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  <a:ea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  <a:ea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  <a:ea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  <a:ea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  <a:ea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  <a:ea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Arial"/>
          <a:ea typeface="ＭＳ Ｐゴシック" charset="0"/>
          <a:cs typeface="Arial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400" kern="1200">
          <a:solidFill>
            <a:schemeClr val="tx1"/>
          </a:solidFill>
          <a:latin typeface="Arial"/>
          <a:ea typeface="ＭＳ Ｐゴシック" charset="0"/>
          <a:cs typeface="Arial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Arial"/>
          <a:ea typeface="ＭＳ Ｐゴシック" charset="0"/>
          <a:cs typeface="Arial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400" kern="1200">
          <a:solidFill>
            <a:schemeClr val="tx1"/>
          </a:solidFill>
          <a:latin typeface="Arial"/>
          <a:ea typeface="ＭＳ Ｐゴシック" charset="0"/>
          <a:cs typeface="Arial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000" kern="1200">
          <a:solidFill>
            <a:schemeClr val="tx1"/>
          </a:solidFill>
          <a:latin typeface="Arial"/>
          <a:ea typeface="ＭＳ Ｐゴシック" charset="0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tiff"/><Relationship Id="rId3" Type="http://schemas.openxmlformats.org/officeDocument/2006/relationships/image" Target="../media/image2.png"/><Relationship Id="rId7" Type="http://schemas.openxmlformats.org/officeDocument/2006/relationships/image" Target="../media/image5.tif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tiff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7.tif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1.tif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tiff"/><Relationship Id="rId4" Type="http://schemas.openxmlformats.org/officeDocument/2006/relationships/image" Target="../media/image6.tif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tiff"/><Relationship Id="rId5" Type="http://schemas.openxmlformats.org/officeDocument/2006/relationships/image" Target="../media/image12.png"/><Relationship Id="rId4" Type="http://schemas.openxmlformats.org/officeDocument/2006/relationships/image" Target="../media/image6.tif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16.tif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tiff"/><Relationship Id="rId5" Type="http://schemas.openxmlformats.org/officeDocument/2006/relationships/image" Target="../media/image14.tiff"/><Relationship Id="rId4" Type="http://schemas.openxmlformats.org/officeDocument/2006/relationships/image" Target="../media/image7.tif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tiff"/><Relationship Id="rId3" Type="http://schemas.openxmlformats.org/officeDocument/2006/relationships/image" Target="../media/image7.tiff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10" Type="http://schemas.openxmlformats.org/officeDocument/2006/relationships/image" Target="../media/image19.tiff"/><Relationship Id="rId4" Type="http://schemas.openxmlformats.org/officeDocument/2006/relationships/image" Target="../media/image11.tiff"/><Relationship Id="rId9" Type="http://schemas.openxmlformats.org/officeDocument/2006/relationships/image" Target="../media/image18.tif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tiff"/><Relationship Id="rId5" Type="http://schemas.openxmlformats.org/officeDocument/2006/relationships/image" Target="../media/image21.tiff"/><Relationship Id="rId4" Type="http://schemas.openxmlformats.org/officeDocument/2006/relationships/image" Target="../media/image20.tif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88;p17">
            <a:extLst>
              <a:ext uri="{FF2B5EF4-FFF2-40B4-BE49-F238E27FC236}">
                <a16:creationId xmlns:a16="http://schemas.microsoft.com/office/drawing/2014/main" id="{FAC5967D-1FC5-1C4E-9B47-CD7C30D04CB2}"/>
              </a:ext>
            </a:extLst>
          </p:cNvPr>
          <p:cNvSpPr txBox="1">
            <a:spLocks/>
          </p:cNvSpPr>
          <p:nvPr/>
        </p:nvSpPr>
        <p:spPr>
          <a:xfrm>
            <a:off x="415635" y="2214099"/>
            <a:ext cx="8312727" cy="94476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rtlCol="0" anchor="ctr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x-none" sz="2700" b="1" dirty="0">
                <a:latin typeface="Garamond" panose="02020404030301010803" pitchFamily="18" charset="0"/>
                <a:cs typeface="Times New Roman" panose="02020603050405020304" pitchFamily="18" charset="0"/>
              </a:rPr>
              <a:t>Genomic matrices</a:t>
            </a:r>
          </a:p>
        </p:txBody>
      </p:sp>
      <p:sp>
        <p:nvSpPr>
          <p:cNvPr id="10" name="Google Shape;89;p17">
            <a:extLst>
              <a:ext uri="{FF2B5EF4-FFF2-40B4-BE49-F238E27FC236}">
                <a16:creationId xmlns:a16="http://schemas.microsoft.com/office/drawing/2014/main" id="{99D5CA0B-F10C-B148-9ADF-BEB8C1CC30F9}"/>
              </a:ext>
            </a:extLst>
          </p:cNvPr>
          <p:cNvSpPr txBox="1">
            <a:spLocks/>
          </p:cNvSpPr>
          <p:nvPr/>
        </p:nvSpPr>
        <p:spPr>
          <a:xfrm>
            <a:off x="1406045" y="3606328"/>
            <a:ext cx="6331909" cy="1160936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rtlCol="0" anchor="t" anchorCtr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500" b="1" dirty="0">
                <a:solidFill>
                  <a:srgbClr val="C00000"/>
                </a:solidFill>
                <a:latin typeface="Garamond" panose="02020404030301010803" pitchFamily="18" charset="0"/>
                <a:cs typeface="Times New Roman" pitchFamily="18" charset="0"/>
              </a:rPr>
              <a:t>Roberto Fritsche-Neto</a:t>
            </a:r>
          </a:p>
          <a:p>
            <a:pPr marL="0" indent="0" algn="ctr">
              <a:buNone/>
            </a:pPr>
            <a:r>
              <a:rPr lang="en-US" sz="1500" dirty="0">
                <a:latin typeface="Garamond" panose="02020404030301010803" pitchFamily="18" charset="0"/>
                <a:cs typeface="Times New Roman" pitchFamily="18" charset="0"/>
              </a:rPr>
              <a:t>Assistant Professor - Vegetable Molecular Breeding</a:t>
            </a:r>
          </a:p>
          <a:p>
            <a:pPr marL="0" indent="0" algn="ctr">
              <a:buNone/>
            </a:pPr>
            <a:endParaRPr lang="en-US" sz="1500" dirty="0">
              <a:latin typeface="Garamond" panose="02020404030301010803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sz="1500" b="1" dirty="0">
                <a:solidFill>
                  <a:srgbClr val="C00000"/>
                </a:solidFill>
                <a:latin typeface="Garamond" panose="02020404030301010803" pitchFamily="18" charset="0"/>
                <a:cs typeface="Times New Roman" pitchFamily="18" charset="0"/>
              </a:rPr>
              <a:t>2026</a:t>
            </a:r>
            <a:endParaRPr lang="en-US" sz="1500" dirty="0">
              <a:latin typeface="Garamond" panose="02020404030301010803" pitchFamily="18" charset="0"/>
              <a:cs typeface="Times New Roman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DA55D11-4277-D210-2D3D-604584320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D4FFB-4E99-450A-8CB0-F98DC51F07B9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Google Shape;88;p17">
            <a:extLst>
              <a:ext uri="{FF2B5EF4-FFF2-40B4-BE49-F238E27FC236}">
                <a16:creationId xmlns:a16="http://schemas.microsoft.com/office/drawing/2014/main" id="{189A9E52-426E-EC94-92A8-622436F87D02}"/>
              </a:ext>
            </a:extLst>
          </p:cNvPr>
          <p:cNvSpPr txBox="1">
            <a:spLocks/>
          </p:cNvSpPr>
          <p:nvPr/>
        </p:nvSpPr>
        <p:spPr>
          <a:xfrm>
            <a:off x="415636" y="579209"/>
            <a:ext cx="8312727" cy="152154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rtlCol="0" anchor="ctr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>
                <a:latin typeface="Garamond" panose="02020404030301010803" pitchFamily="18" charset="0"/>
                <a:cs typeface="Times New Roman" pitchFamily="18" charset="0"/>
              </a:rPr>
              <a:t>College of Agriculture and Life Sciences</a:t>
            </a:r>
          </a:p>
          <a:p>
            <a:r>
              <a:rPr lang="en-US" sz="1800" dirty="0">
                <a:latin typeface="Garamond" panose="02020404030301010803" pitchFamily="18" charset="0"/>
                <a:cs typeface="Times New Roman" pitchFamily="18" charset="0"/>
              </a:rPr>
              <a:t>Department of Horticulture Sciences</a:t>
            </a:r>
          </a:p>
          <a:p>
            <a:r>
              <a:rPr lang="en-US" sz="1800" dirty="0">
                <a:latin typeface="Garamond" panose="02020404030301010803" pitchFamily="18" charset="0"/>
                <a:cs typeface="Times New Roman" pitchFamily="18" charset="0"/>
              </a:rPr>
              <a:t>Plant Breeding Consortium</a:t>
            </a:r>
          </a:p>
          <a:p>
            <a:r>
              <a:rPr lang="en-US" altLang="x-none" sz="1800" dirty="0">
                <a:latin typeface="Garamond" panose="02020404030301010803" pitchFamily="18" charset="0"/>
                <a:cs typeface="Times New Roman" pitchFamily="18" charset="0"/>
              </a:rPr>
              <a:t>CS/HS 541 Plant Breeding Methods</a:t>
            </a:r>
            <a:endParaRPr lang="en-US" sz="1800" dirty="0">
              <a:latin typeface="Garamond" panose="02020404030301010803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5533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/>
          <p:cNvSpPr txBox="1">
            <a:spLocks/>
          </p:cNvSpPr>
          <p:nvPr/>
        </p:nvSpPr>
        <p:spPr>
          <a:xfrm>
            <a:off x="1449287" y="189315"/>
            <a:ext cx="6172200" cy="651272"/>
          </a:xfrm>
          <a:prstGeom prst="rect">
            <a:avLst/>
          </a:prstGeom>
        </p:spPr>
        <p:txBody>
          <a:bodyPr vert="horz" lIns="68580" tIns="34290" rIns="68580" bIns="3429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x-none" sz="2700" b="1" dirty="0">
                <a:latin typeface="Garamond" panose="02020404030301010803" pitchFamily="18" charset="0"/>
                <a:ea typeface="Times New Roman" charset="0"/>
                <a:cs typeface="Times New Roman" charset="0"/>
              </a:rPr>
              <a:t>G</a:t>
            </a:r>
            <a:r>
              <a:rPr lang="en-US" altLang="x-none" sz="2700" b="1" baseline="-25000" dirty="0">
                <a:latin typeface="Garamond" panose="02020404030301010803" pitchFamily="18" charset="0"/>
                <a:ea typeface="Times New Roman" charset="0"/>
                <a:cs typeface="Times New Roman" charset="0"/>
              </a:rPr>
              <a:t>A</a:t>
            </a:r>
            <a:endParaRPr lang="pt-BR" altLang="pt-BR" sz="2700" b="1" baseline="-25000" dirty="0">
              <a:latin typeface="Garamond" panose="02020404030301010803" pitchFamily="18" charset="0"/>
              <a:ea typeface="Times New Roman" charset="0"/>
              <a:cs typeface="Times New Roman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90161" y="994579"/>
            <a:ext cx="755870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7175" indent="-257175" algn="just">
              <a:buFont typeface="Arial" charset="0"/>
              <a:buChar char="•"/>
            </a:pPr>
            <a:r>
              <a:rPr lang="en-US" b="1" dirty="0">
                <a:solidFill>
                  <a:srgbClr val="FF0000"/>
                </a:solidFill>
                <a:latin typeface="Garamond" panose="02020404030301010803" pitchFamily="18" charset="0"/>
                <a:ea typeface="Times New Roman" charset="0"/>
                <a:cs typeface="Times New Roman" panose="02020603050405020304" pitchFamily="18" charset="0"/>
              </a:rPr>
              <a:t>G</a:t>
            </a:r>
            <a:r>
              <a:rPr lang="en-US" b="1" baseline="-25000" dirty="0">
                <a:solidFill>
                  <a:srgbClr val="FF0000"/>
                </a:solidFill>
                <a:latin typeface="Garamond" panose="02020404030301010803" pitchFamily="18" charset="0"/>
                <a:ea typeface="Times New Roman" charset="0"/>
                <a:cs typeface="Times New Roman" panose="02020603050405020304" pitchFamily="18" charset="0"/>
              </a:rPr>
              <a:t>A</a:t>
            </a:r>
            <a:r>
              <a:rPr lang="en-US" b="1" dirty="0">
                <a:solidFill>
                  <a:srgbClr val="FF0000"/>
                </a:solidFill>
                <a:latin typeface="Garamond" panose="02020404030301010803" pitchFamily="18" charset="0"/>
                <a:ea typeface="Times New Roman" charset="0"/>
                <a:cs typeface="Times New Roman" panose="02020603050405020304" pitchFamily="18" charset="0"/>
              </a:rPr>
              <a:t> – additive genomic relationship matrix</a:t>
            </a:r>
          </a:p>
          <a:p>
            <a:pPr marL="257175" indent="-257175" algn="just">
              <a:buFont typeface="Arial" charset="0"/>
              <a:buChar char="•"/>
            </a:pPr>
            <a:r>
              <a:rPr lang="en-US" dirty="0">
                <a:latin typeface="Garamond" panose="02020404030301010803" pitchFamily="18" charset="0"/>
                <a:ea typeface="Times New Roman" charset="0"/>
                <a:cs typeface="Times New Roman" panose="02020603050405020304" pitchFamily="18" charset="0"/>
              </a:rPr>
              <a:t>There are many methods</a:t>
            </a:r>
          </a:p>
          <a:p>
            <a:pPr marL="257175" indent="-257175" algn="just">
              <a:buFont typeface="Arial" charset="0"/>
              <a:buChar char="•"/>
            </a:pPr>
            <a:r>
              <a:rPr lang="en-US" dirty="0">
                <a:latin typeface="Garamond" panose="02020404030301010803" pitchFamily="18" charset="0"/>
                <a:ea typeface="Times New Roman" charset="0"/>
                <a:cs typeface="Times New Roman" panose="02020603050405020304" pitchFamily="18" charset="0"/>
              </a:rPr>
              <a:t>The most popular was proposed by </a:t>
            </a:r>
            <a:r>
              <a:rPr lang="en-US" dirty="0" err="1">
                <a:latin typeface="Garamond" panose="02020404030301010803" pitchFamily="18" charset="0"/>
                <a:ea typeface="Times New Roman" charset="0"/>
                <a:cs typeface="Times New Roman" panose="02020603050405020304" pitchFamily="18" charset="0"/>
              </a:rPr>
              <a:t>VanRaden</a:t>
            </a:r>
            <a:r>
              <a:rPr lang="en-US" dirty="0">
                <a:latin typeface="Garamond" panose="02020404030301010803" pitchFamily="18" charset="0"/>
                <a:ea typeface="Times New Roman" charset="0"/>
                <a:cs typeface="Times New Roman" panose="02020603050405020304" pitchFamily="18" charset="0"/>
              </a:rPr>
              <a:t> (2008)</a:t>
            </a:r>
          </a:p>
          <a:p>
            <a:pPr marL="257175" indent="-257175" algn="just">
              <a:buFont typeface="Arial" charset="0"/>
              <a:buChar char="•"/>
            </a:pPr>
            <a:endParaRPr lang="en-US" dirty="0">
              <a:latin typeface="Garamond" panose="02020404030301010803" pitchFamily="18" charset="0"/>
              <a:ea typeface="Times New Roman" charset="0"/>
              <a:cs typeface="Times New Roman" panose="02020603050405020304" pitchFamily="18" charset="0"/>
            </a:endParaRPr>
          </a:p>
          <a:p>
            <a:pPr marL="257175" indent="-257175" algn="just">
              <a:buFont typeface="Arial" charset="0"/>
              <a:buChar char="•"/>
            </a:pPr>
            <a:endParaRPr lang="en-US" dirty="0">
              <a:latin typeface="Garamond" panose="02020404030301010803" pitchFamily="18" charset="0"/>
              <a:ea typeface="Times New Roman" charset="0"/>
              <a:cs typeface="Times New Roman" panose="02020603050405020304" pitchFamily="18" charset="0"/>
            </a:endParaRPr>
          </a:p>
          <a:p>
            <a:pPr marL="257175" indent="-257175" algn="just">
              <a:buFont typeface="Arial" charset="0"/>
              <a:buChar char="•"/>
            </a:pPr>
            <a:endParaRPr lang="en-US" dirty="0">
              <a:latin typeface="Garamond" panose="02020404030301010803" pitchFamily="18" charset="0"/>
              <a:ea typeface="Times New Roman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Garamond" panose="02020404030301010803" pitchFamily="18" charset="0"/>
              <a:ea typeface="Times New Roman" charset="0"/>
              <a:cs typeface="Times New Roman" panose="02020603050405020304" pitchFamily="18" charset="0"/>
            </a:endParaRPr>
          </a:p>
          <a:p>
            <a:pPr marL="257175" indent="-257175" algn="just">
              <a:buFont typeface="Arial" charset="0"/>
              <a:buChar char="•"/>
            </a:pPr>
            <a:r>
              <a:rPr lang="en-US" dirty="0">
                <a:latin typeface="Garamond" panose="02020404030301010803" pitchFamily="18" charset="0"/>
                <a:ea typeface="Times New Roman" charset="0"/>
                <a:cs typeface="Times New Roman" panose="02020603050405020304" pitchFamily="18" charset="0"/>
              </a:rPr>
              <a:t>Another way is to center and and scale the matrix first</a:t>
            </a:r>
          </a:p>
          <a:p>
            <a:pPr marL="257175" indent="-257175" algn="just">
              <a:buFont typeface="Arial" charset="0"/>
              <a:buChar char="•"/>
            </a:pPr>
            <a:r>
              <a:rPr lang="en-US" dirty="0">
                <a:latin typeface="Garamond" panose="02020404030301010803" pitchFamily="18" charset="0"/>
                <a:ea typeface="Times New Roman" charset="0"/>
                <a:cs typeface="Times New Roman" panose="02020603050405020304" pitchFamily="18" charset="0"/>
              </a:rPr>
              <a:t>W &lt;- scale(M, scale = TRUE, center = TRUE)</a:t>
            </a:r>
          </a:p>
          <a:p>
            <a:pPr marL="257175" indent="-257175" algn="just">
              <a:buFont typeface="Arial" charset="0"/>
              <a:buChar char="•"/>
            </a:pPr>
            <a:r>
              <a:rPr lang="en-US" dirty="0">
                <a:latin typeface="Garamond" panose="02020404030301010803" pitchFamily="18" charset="0"/>
                <a:ea typeface="Times New Roman" charset="0"/>
                <a:cs typeface="Times New Roman" panose="02020603050405020304" pitchFamily="18" charset="0"/>
              </a:rPr>
              <a:t>G</a:t>
            </a:r>
            <a:r>
              <a:rPr lang="en-US" baseline="-25000" dirty="0">
                <a:latin typeface="Garamond" panose="02020404030301010803" pitchFamily="18" charset="0"/>
                <a:ea typeface="Times New Roman" charset="0"/>
                <a:cs typeface="Times New Roman" panose="02020603050405020304" pitchFamily="18" charset="0"/>
              </a:rPr>
              <a:t>A</a:t>
            </a:r>
            <a:r>
              <a:rPr lang="en-US" dirty="0">
                <a:latin typeface="Garamond" panose="02020404030301010803" pitchFamily="18" charset="0"/>
                <a:ea typeface="Times New Roman" charset="0"/>
                <a:cs typeface="Times New Roman" panose="02020603050405020304" pitchFamily="18" charset="0"/>
              </a:rPr>
              <a:t> &lt;- </a:t>
            </a:r>
            <a:r>
              <a:rPr lang="en-US" dirty="0" err="1">
                <a:latin typeface="Garamond" panose="02020404030301010803" pitchFamily="18" charset="0"/>
                <a:ea typeface="Times New Roman" charset="0"/>
                <a:cs typeface="Times New Roman" panose="02020603050405020304" pitchFamily="18" charset="0"/>
              </a:rPr>
              <a:t>tcrossprod</a:t>
            </a:r>
            <a:r>
              <a:rPr lang="en-US" dirty="0">
                <a:latin typeface="Garamond" panose="02020404030301010803" pitchFamily="18" charset="0"/>
                <a:ea typeface="Times New Roman" charset="0"/>
                <a:cs typeface="Times New Roman" panose="02020603050405020304" pitchFamily="18" charset="0"/>
              </a:rPr>
              <a:t>(W) / </a:t>
            </a:r>
            <a:r>
              <a:rPr lang="en-US" dirty="0" err="1">
                <a:latin typeface="Garamond" panose="02020404030301010803" pitchFamily="18" charset="0"/>
                <a:ea typeface="Times New Roman" charset="0"/>
                <a:cs typeface="Times New Roman" panose="02020603050405020304" pitchFamily="18" charset="0"/>
              </a:rPr>
              <a:t>ncol</a:t>
            </a:r>
            <a:r>
              <a:rPr lang="en-US" dirty="0">
                <a:latin typeface="Garamond" panose="02020404030301010803" pitchFamily="18" charset="0"/>
                <a:ea typeface="Times New Roman" charset="0"/>
                <a:cs typeface="Times New Roman" panose="02020603050405020304" pitchFamily="18" charset="0"/>
              </a:rPr>
              <a:t>(W)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49A65AE-6F46-E440-BE13-AF59303918C8}"/>
                  </a:ext>
                </a:extLst>
              </p:cNvPr>
              <p:cNvSpPr txBox="1"/>
              <p:nvPr/>
            </p:nvSpPr>
            <p:spPr>
              <a:xfrm>
                <a:off x="902470" y="2117337"/>
                <a:ext cx="1961755" cy="6827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pt-BR" b="0" i="1" baseline="-25000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𝑊𝑊</m:t>
                          </m:r>
                          <m:r>
                            <a:rPr lang="pt-BR" i="1" smtClean="0">
                              <a:latin typeface="Cambria Math" panose="02040503050406030204" pitchFamily="18" charset="0"/>
                            </a:rPr>
                            <m:t>’</m:t>
                          </m:r>
                        </m:num>
                        <m:den>
                          <m:nary>
                            <m:naryPr>
                              <m:chr m:val="∑"/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pt-BR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(2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𝑝𝑖𝑞𝑖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49A65AE-6F46-E440-BE13-AF59303918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2470" y="2117337"/>
                <a:ext cx="1961755" cy="682751"/>
              </a:xfrm>
              <a:prstGeom prst="rect">
                <a:avLst/>
              </a:prstGeom>
              <a:blipFill>
                <a:blip r:embed="rId3"/>
                <a:stretch>
                  <a:fillRect t="-16364" b="-8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1" name="Picture 6">
            <a:extLst>
              <a:ext uri="{FF2B5EF4-FFF2-40B4-BE49-F238E27FC236}">
                <a16:creationId xmlns:a16="http://schemas.microsoft.com/office/drawing/2014/main" id="{41453CEE-8D9F-1743-8E8D-6CB6B23F033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208"/>
          <a:stretch>
            <a:fillRect/>
          </a:stretch>
        </p:blipFill>
        <p:spPr bwMode="auto">
          <a:xfrm>
            <a:off x="2801602" y="2110576"/>
            <a:ext cx="2366016" cy="7154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73BB73D-02B5-1042-94FE-3C8D0F22368B}"/>
                  </a:ext>
                </a:extLst>
              </p:cNvPr>
              <p:cNvSpPr txBox="1"/>
              <p:nvPr/>
            </p:nvSpPr>
            <p:spPr>
              <a:xfrm>
                <a:off x="1724113" y="4060063"/>
                <a:ext cx="1275349" cy="61837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pt-BR" b="0" i="1" baseline="-25000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𝑊𝑊</m:t>
                          </m:r>
                          <m:r>
                            <a:rPr lang="pt-BR" i="1" smtClean="0">
                              <a:latin typeface="Cambria Math" panose="02040503050406030204" pitchFamily="18" charset="0"/>
                            </a:rPr>
                            <m:t>’</m:t>
                          </m:r>
                        </m:num>
                        <m:den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𝑐𝑜𝑙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73BB73D-02B5-1042-94FE-3C8D0F2236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4113" y="4060063"/>
                <a:ext cx="1275349" cy="618374"/>
              </a:xfrm>
              <a:prstGeom prst="rect">
                <a:avLst/>
              </a:prstGeom>
              <a:blipFill>
                <a:blip r:embed="rId5"/>
                <a:stretch>
                  <a:fillRect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89C688BA-0086-0042-B5D2-56812575669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80571" y="3841886"/>
            <a:ext cx="2503004" cy="10547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8E5D7E4-B559-334F-9E3E-2679B996D1D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64060" y="3841887"/>
            <a:ext cx="3001910" cy="10547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398791F-03B6-E741-B9C0-FB972E7ECD8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84773" y="514951"/>
            <a:ext cx="2281197" cy="127007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F20B84A-290D-8B4C-9874-9A39DA60111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83575" y="1856347"/>
            <a:ext cx="3082395" cy="1086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2198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2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/>
          <p:cNvSpPr txBox="1">
            <a:spLocks/>
          </p:cNvSpPr>
          <p:nvPr/>
        </p:nvSpPr>
        <p:spPr>
          <a:xfrm>
            <a:off x="1449287" y="189315"/>
            <a:ext cx="6172200" cy="651272"/>
          </a:xfrm>
          <a:prstGeom prst="rect">
            <a:avLst/>
          </a:prstGeom>
        </p:spPr>
        <p:txBody>
          <a:bodyPr vert="horz" lIns="68580" tIns="34290" rIns="68580" bIns="3429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x-none" sz="2700" b="1" dirty="0">
                <a:latin typeface="Garamond" panose="02020404030301010803" pitchFamily="18" charset="0"/>
                <a:ea typeface="Times New Roman" charset="0"/>
                <a:cs typeface="Times New Roman" charset="0"/>
              </a:rPr>
              <a:t>G</a:t>
            </a:r>
            <a:r>
              <a:rPr lang="en-US" altLang="x-none" sz="2700" b="1" baseline="-25000" dirty="0">
                <a:latin typeface="Garamond" panose="02020404030301010803" pitchFamily="18" charset="0"/>
                <a:ea typeface="Times New Roman" charset="0"/>
                <a:cs typeface="Times New Roman" charset="0"/>
              </a:rPr>
              <a:t>D</a:t>
            </a:r>
            <a:endParaRPr lang="pt-BR" altLang="pt-BR" sz="2700" b="1" baseline="-25000" dirty="0">
              <a:latin typeface="Garamond" panose="02020404030301010803" pitchFamily="18" charset="0"/>
              <a:ea typeface="Times New Roman" charset="0"/>
              <a:cs typeface="Times New Roman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90161" y="994578"/>
            <a:ext cx="755870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7175" indent="-257175" algn="just">
              <a:buFont typeface="Arial" charset="0"/>
              <a:buChar char="•"/>
            </a:pPr>
            <a:r>
              <a:rPr lang="en-US" b="1" dirty="0">
                <a:solidFill>
                  <a:srgbClr val="FF0000"/>
                </a:solidFill>
                <a:latin typeface="Garamond" panose="02020404030301010803" pitchFamily="18" charset="0"/>
                <a:ea typeface="Times New Roman" charset="0"/>
                <a:cs typeface="Times New Roman" panose="02020603050405020304" pitchFamily="18" charset="0"/>
              </a:rPr>
              <a:t>G</a:t>
            </a:r>
            <a:r>
              <a:rPr lang="en-US" b="1" baseline="-25000" dirty="0">
                <a:solidFill>
                  <a:srgbClr val="FF0000"/>
                </a:solidFill>
                <a:latin typeface="Garamond" panose="02020404030301010803" pitchFamily="18" charset="0"/>
                <a:ea typeface="Times New Roman" charset="0"/>
                <a:cs typeface="Times New Roman" panose="02020603050405020304" pitchFamily="18" charset="0"/>
              </a:rPr>
              <a:t>D</a:t>
            </a:r>
            <a:r>
              <a:rPr lang="en-US" b="1" dirty="0">
                <a:solidFill>
                  <a:srgbClr val="FF0000"/>
                </a:solidFill>
                <a:latin typeface="Garamond" panose="02020404030301010803" pitchFamily="18" charset="0"/>
                <a:ea typeface="Times New Roman" charset="0"/>
                <a:cs typeface="Times New Roman" panose="02020603050405020304" pitchFamily="18" charset="0"/>
              </a:rPr>
              <a:t> – dominance genomic relationship matrix</a:t>
            </a:r>
          </a:p>
          <a:p>
            <a:pPr marL="257175" indent="-257175" algn="just">
              <a:buFont typeface="Arial" charset="0"/>
              <a:buChar char="•"/>
            </a:pPr>
            <a:endParaRPr lang="en-US" dirty="0">
              <a:latin typeface="Garamond" panose="02020404030301010803" pitchFamily="18" charset="0"/>
              <a:ea typeface="Times New Roman" charset="0"/>
              <a:cs typeface="Times New Roman" panose="02020603050405020304" pitchFamily="18" charset="0"/>
            </a:endParaRPr>
          </a:p>
          <a:p>
            <a:pPr marL="257175" indent="-257175" algn="just">
              <a:buFont typeface="Arial" charset="0"/>
              <a:buChar char="•"/>
            </a:pPr>
            <a:r>
              <a:rPr lang="en-US" dirty="0">
                <a:latin typeface="Garamond" panose="02020404030301010803" pitchFamily="18" charset="0"/>
                <a:ea typeface="Times New Roman" charset="0"/>
                <a:cs typeface="Times New Roman" panose="02020603050405020304" pitchFamily="18" charset="0"/>
              </a:rPr>
              <a:t>Aa =1</a:t>
            </a:r>
          </a:p>
          <a:p>
            <a:pPr marL="257175" indent="-257175" algn="just">
              <a:buFont typeface="Arial" charset="0"/>
              <a:buChar char="•"/>
            </a:pPr>
            <a:endParaRPr lang="en-US" dirty="0">
              <a:latin typeface="Garamond" panose="02020404030301010803" pitchFamily="18" charset="0"/>
              <a:ea typeface="Times New Roman" charset="0"/>
              <a:cs typeface="Times New Roman" panose="02020603050405020304" pitchFamily="18" charset="0"/>
            </a:endParaRPr>
          </a:p>
          <a:p>
            <a:pPr marL="257175" indent="-257175" algn="just">
              <a:buFont typeface="Arial" charset="0"/>
              <a:buChar char="•"/>
            </a:pPr>
            <a:r>
              <a:rPr lang="en-US" dirty="0">
                <a:latin typeface="Garamond" panose="02020404030301010803" pitchFamily="18" charset="0"/>
                <a:ea typeface="Times New Roman" charset="0"/>
                <a:cs typeface="Times New Roman" panose="02020603050405020304" pitchFamily="18" charset="0"/>
              </a:rPr>
              <a:t>Otherwise = 0</a:t>
            </a:r>
          </a:p>
          <a:p>
            <a:pPr marL="257175" indent="-257175" algn="just">
              <a:buFont typeface="Arial" charset="0"/>
              <a:buChar char="•"/>
            </a:pPr>
            <a:endParaRPr lang="en-US" dirty="0">
              <a:latin typeface="Garamond" panose="02020404030301010803" pitchFamily="18" charset="0"/>
              <a:ea typeface="Times New Roman" charset="0"/>
              <a:cs typeface="Times New Roman" panose="02020603050405020304" pitchFamily="18" charset="0"/>
            </a:endParaRPr>
          </a:p>
          <a:p>
            <a:pPr marL="257175" indent="-257175" algn="just">
              <a:buFont typeface="Arial" charset="0"/>
              <a:buChar char="•"/>
            </a:pPr>
            <a:endParaRPr lang="en-US" dirty="0">
              <a:latin typeface="Garamond" panose="02020404030301010803" pitchFamily="18" charset="0"/>
              <a:ea typeface="Times New Roman" charset="0"/>
              <a:cs typeface="Times New Roman" panose="02020603050405020304" pitchFamily="18" charset="0"/>
            </a:endParaRPr>
          </a:p>
          <a:p>
            <a:pPr marL="257175" indent="-257175" algn="just">
              <a:buFont typeface="Arial" charset="0"/>
              <a:buChar char="•"/>
            </a:pPr>
            <a:endParaRPr lang="en-US" dirty="0">
              <a:latin typeface="Garamond" panose="02020404030301010803" pitchFamily="18" charset="0"/>
              <a:ea typeface="Times New Roman" charset="0"/>
              <a:cs typeface="Times New Roman" panose="02020603050405020304" pitchFamily="18" charset="0"/>
            </a:endParaRPr>
          </a:p>
          <a:p>
            <a:pPr marL="257175" indent="-257175" algn="just">
              <a:buFont typeface="Arial" charset="0"/>
              <a:buChar char="•"/>
            </a:pPr>
            <a:endParaRPr lang="en-US" dirty="0">
              <a:latin typeface="Garamond" panose="02020404030301010803" pitchFamily="18" charset="0"/>
              <a:ea typeface="Times New Roman" charset="0"/>
              <a:cs typeface="Times New Roman" panose="02020603050405020304" pitchFamily="18" charset="0"/>
            </a:endParaRPr>
          </a:p>
          <a:p>
            <a:pPr marL="257175" indent="-257175" algn="just">
              <a:buFont typeface="Arial" charset="0"/>
              <a:buChar char="•"/>
            </a:pPr>
            <a:endParaRPr lang="en-US" dirty="0">
              <a:latin typeface="Garamond" panose="02020404030301010803" pitchFamily="18" charset="0"/>
              <a:ea typeface="Times New Roman" charset="0"/>
              <a:cs typeface="Times New Roman" panose="02020603050405020304" pitchFamily="18" charset="0"/>
            </a:endParaRPr>
          </a:p>
          <a:p>
            <a:pPr marL="257175" indent="-257175" algn="just">
              <a:buFont typeface="Arial" charset="0"/>
              <a:buChar char="•"/>
            </a:pPr>
            <a:endParaRPr lang="en-US" dirty="0">
              <a:latin typeface="Garamond" panose="02020404030301010803" pitchFamily="18" charset="0"/>
              <a:ea typeface="Times New Roman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49A65AE-6F46-E440-BE13-AF59303918C8}"/>
                  </a:ext>
                </a:extLst>
              </p:cNvPr>
              <p:cNvSpPr txBox="1"/>
              <p:nvPr/>
            </p:nvSpPr>
            <p:spPr>
              <a:xfrm>
                <a:off x="882494" y="2465420"/>
                <a:ext cx="2097690" cy="6827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pt-BR" b="0" i="1" baseline="-25000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𝑆𝑆</m:t>
                          </m:r>
                          <m:r>
                            <a:rPr lang="pt-BR" i="1" smtClean="0">
                              <a:latin typeface="Cambria Math" panose="02040503050406030204" pitchFamily="18" charset="0"/>
                            </a:rPr>
                            <m:t>’</m:t>
                          </m:r>
                        </m:num>
                        <m:den>
                          <m:nary>
                            <m:naryPr>
                              <m:chr m:val="∑"/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pt-BR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(2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𝑝𝑖𝑞𝑖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  <m:r>
                            <a:rPr lang="en-US" b="0" i="1" baseline="3000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49A65AE-6F46-E440-BE13-AF59303918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494" y="2465420"/>
                <a:ext cx="2097690" cy="682751"/>
              </a:xfrm>
              <a:prstGeom prst="rect">
                <a:avLst/>
              </a:prstGeom>
              <a:blipFill>
                <a:blip r:embed="rId3"/>
                <a:stretch>
                  <a:fillRect t="-16364" b="-90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6398791F-03B6-E741-B9C0-FB972E7ECD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8594" y="862949"/>
            <a:ext cx="2495549" cy="138941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8F1A28C-B9B4-1440-BD10-073DBA8CB7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3609" y="2365997"/>
            <a:ext cx="2490534" cy="1417377"/>
          </a:xfrm>
          <a:prstGeom prst="rect">
            <a:avLst/>
          </a:prstGeom>
        </p:spPr>
      </p:pic>
      <p:pic>
        <p:nvPicPr>
          <p:cNvPr id="35" name="Picture 7">
            <a:extLst>
              <a:ext uri="{FF2B5EF4-FFF2-40B4-BE49-F238E27FC236}">
                <a16:creationId xmlns:a16="http://schemas.microsoft.com/office/drawing/2014/main" id="{76215A5E-25DE-224E-9CFD-6C460AE4D39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424"/>
          <a:stretch>
            <a:fillRect/>
          </a:stretch>
        </p:blipFill>
        <p:spPr bwMode="auto">
          <a:xfrm>
            <a:off x="2864452" y="1930351"/>
            <a:ext cx="2398054" cy="7982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5874E00-5824-F34D-B8CA-B9A9322540A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62638" y="3272949"/>
            <a:ext cx="3661175" cy="1280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1459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/>
          <p:cNvSpPr txBox="1">
            <a:spLocks/>
          </p:cNvSpPr>
          <p:nvPr/>
        </p:nvSpPr>
        <p:spPr>
          <a:xfrm>
            <a:off x="1449287" y="189315"/>
            <a:ext cx="6172200" cy="651272"/>
          </a:xfrm>
          <a:prstGeom prst="rect">
            <a:avLst/>
          </a:prstGeom>
        </p:spPr>
        <p:txBody>
          <a:bodyPr vert="horz" lIns="68580" tIns="34290" rIns="68580" bIns="3429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x-none" sz="2700" b="1" dirty="0">
                <a:latin typeface="Garamond" panose="02020404030301010803" pitchFamily="18" charset="0"/>
                <a:ea typeface="Times New Roman" charset="0"/>
                <a:cs typeface="Times New Roman" charset="0"/>
              </a:rPr>
              <a:t>Gaussian kernel</a:t>
            </a:r>
            <a:endParaRPr lang="pt-BR" altLang="pt-BR" sz="2700" b="1" dirty="0">
              <a:latin typeface="Garamond" panose="02020404030301010803" pitchFamily="18" charset="0"/>
              <a:ea typeface="Times New Roman" charset="0"/>
              <a:cs typeface="Times New Roman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90161" y="994578"/>
            <a:ext cx="755870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7175" indent="-257175" algn="just">
              <a:buFont typeface="Arial" charset="0"/>
              <a:buChar char="•"/>
            </a:pPr>
            <a:r>
              <a:rPr lang="en-US" b="1" dirty="0">
                <a:solidFill>
                  <a:srgbClr val="FF0000"/>
                </a:solidFill>
                <a:latin typeface="Garamond" panose="02020404030301010803" pitchFamily="18" charset="0"/>
                <a:ea typeface="Times New Roman" charset="0"/>
                <a:cs typeface="Times New Roman" panose="02020603050405020304" pitchFamily="18" charset="0"/>
              </a:rPr>
              <a:t>GK – Euclidian genomic distance between individuals</a:t>
            </a:r>
          </a:p>
          <a:p>
            <a:pPr marL="257175" indent="-257175" algn="just">
              <a:buFont typeface="Arial" charset="0"/>
              <a:buChar char="•"/>
            </a:pPr>
            <a:r>
              <a:rPr lang="en-US" dirty="0">
                <a:latin typeface="Garamond" panose="02020404030301010803" pitchFamily="18" charset="0"/>
                <a:ea typeface="Times New Roman" charset="0"/>
                <a:cs typeface="Times New Roman" panose="02020603050405020304" pitchFamily="18" charset="0"/>
              </a:rPr>
              <a:t>Capture additive and non-additive effects</a:t>
            </a:r>
          </a:p>
          <a:p>
            <a:pPr marL="257175" indent="-257175" algn="just">
              <a:buFont typeface="Arial" charset="0"/>
              <a:buChar char="•"/>
            </a:pPr>
            <a:endParaRPr lang="en-US" dirty="0">
              <a:latin typeface="Garamond" panose="02020404030301010803" pitchFamily="18" charset="0"/>
              <a:ea typeface="Times New Roman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Garamond" panose="02020404030301010803" pitchFamily="18" charset="0"/>
              <a:ea typeface="Times New Roman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Garamond" panose="02020404030301010803" pitchFamily="18" charset="0"/>
              <a:ea typeface="Times New Roman" charset="0"/>
              <a:cs typeface="Times New Roman" panose="02020603050405020304" pitchFamily="18" charset="0"/>
            </a:endParaRPr>
          </a:p>
          <a:p>
            <a:pPr marL="257175" indent="-257175" algn="just">
              <a:buFont typeface="Arial" charset="0"/>
              <a:buChar char="•"/>
            </a:pPr>
            <a:endParaRPr lang="en-US" dirty="0">
              <a:latin typeface="Garamond" panose="02020404030301010803" pitchFamily="18" charset="0"/>
              <a:ea typeface="Times New Roman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Garamond" panose="02020404030301010803" pitchFamily="18" charset="0"/>
              <a:ea typeface="Times New Roman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Garamond" panose="02020404030301010803" pitchFamily="18" charset="0"/>
              <a:ea typeface="Times New Roman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Garamond" panose="02020404030301010803" pitchFamily="18" charset="0"/>
              <a:ea typeface="Times New Roman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Garamond" panose="02020404030301010803" pitchFamily="18" charset="0"/>
              <a:ea typeface="Times New Roman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Garamond" panose="02020404030301010803" pitchFamily="18" charset="0"/>
              <a:ea typeface="Times New Roman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Garamond" panose="02020404030301010803" pitchFamily="18" charset="0"/>
              <a:ea typeface="Times New Roman" charset="0"/>
              <a:cs typeface="Times New Roman" panose="02020603050405020304" pitchFamily="18" charset="0"/>
            </a:endParaRPr>
          </a:p>
          <a:p>
            <a:pPr marL="257175" indent="-257175" algn="just">
              <a:buFont typeface="Arial" charset="0"/>
              <a:buChar char="•"/>
            </a:pPr>
            <a:r>
              <a:rPr lang="en-US" dirty="0">
                <a:latin typeface="Garamond" panose="02020404030301010803" pitchFamily="18" charset="0"/>
                <a:ea typeface="Times New Roman" charset="0"/>
                <a:cs typeface="Times New Roman" panose="02020603050405020304" pitchFamily="18" charset="0"/>
              </a:rPr>
              <a:t>h = bandwidth parameters</a:t>
            </a:r>
          </a:p>
          <a:p>
            <a:pPr marL="257175" indent="-257175" algn="just">
              <a:buFont typeface="Arial" charset="0"/>
              <a:buChar char="•"/>
            </a:pPr>
            <a:r>
              <a:rPr lang="en-US" dirty="0">
                <a:latin typeface="Garamond" panose="02020404030301010803" pitchFamily="18" charset="0"/>
                <a:ea typeface="Times New Roman" charset="0"/>
                <a:cs typeface="Times New Roman" panose="02020603050405020304" pitchFamily="18" charset="0"/>
              </a:rPr>
              <a:t>Replace the diagonal with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49A65AE-6F46-E440-BE13-AF59303918C8}"/>
                  </a:ext>
                </a:extLst>
              </p:cNvPr>
              <p:cNvSpPr txBox="1"/>
              <p:nvPr/>
            </p:nvSpPr>
            <p:spPr>
              <a:xfrm>
                <a:off x="1332393" y="3606959"/>
                <a:ext cx="3505511" cy="6674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exp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⁡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f>
                            <m:f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𝑑𝑖𝑠𝑡</m:t>
                              </m:r>
                              <m:r>
                                <a:rPr lang="en-US" b="0" i="1" baseline="-25000" smtClean="0">
                                  <a:latin typeface="Cambria Math" panose="02040503050406030204" pitchFamily="18" charset="0"/>
                                </a:rPr>
                                <m:t>𝑖𝑖</m:t>
                              </m:r>
                              <m:r>
                                <a:rPr lang="en-US" b="0" i="1" baseline="-25000" smtClean="0">
                                  <a:latin typeface="Cambria Math" panose="02040503050406030204" pitchFamily="18" charset="0"/>
                                </a:rPr>
                                <m:t>′2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𝑚𝑒𝑑𝑖𝑎𝑛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𝑑𝑖𝑠𝑡</m:t>
                              </m:r>
                              <m:r>
                                <a:rPr lang="en-US" i="1" baseline="-25000">
                                  <a:latin typeface="Cambria Math" panose="02040503050406030204" pitchFamily="18" charset="0"/>
                                </a:rPr>
                                <m:t>𝑖𝑖</m:t>
                              </m:r>
                              <m:r>
                                <a:rPr lang="en-US" b="0" i="1" baseline="-25000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  <m:r>
                                <a:rPr lang="en-US" i="1" baseline="300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den>
                          </m:f>
                          <m:r>
                            <m:rPr>
                              <m:nor/>
                            </m:rPr>
                            <a:rPr lang="en-US" dirty="0"/>
                            <m:t> 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49A65AE-6F46-E440-BE13-AF59303918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2393" y="3606959"/>
                <a:ext cx="3505511" cy="667427"/>
              </a:xfrm>
              <a:prstGeom prst="rect">
                <a:avLst/>
              </a:prstGeom>
              <a:blipFill>
                <a:blip r:embed="rId3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6398791F-03B6-E741-B9C0-FB972E7ECD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5117" y="1465870"/>
            <a:ext cx="2495549" cy="138941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60B0DDA-DC7C-294F-AA0D-B242AFA377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4870" y="1760509"/>
            <a:ext cx="3715538" cy="16924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9771633-B452-D540-A6F3-E9ACA3F0757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57129" y="2982923"/>
            <a:ext cx="3399096" cy="1323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115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/>
          <p:cNvSpPr txBox="1">
            <a:spLocks/>
          </p:cNvSpPr>
          <p:nvPr/>
        </p:nvSpPr>
        <p:spPr>
          <a:xfrm>
            <a:off x="1449287" y="189315"/>
            <a:ext cx="6172200" cy="651272"/>
          </a:xfrm>
          <a:prstGeom prst="rect">
            <a:avLst/>
          </a:prstGeom>
        </p:spPr>
        <p:txBody>
          <a:bodyPr vert="horz" lIns="68580" tIns="34290" rIns="68580" bIns="3429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x-none" sz="2700" b="1" dirty="0" err="1">
                <a:latin typeface="Garamond" panose="02020404030301010803" pitchFamily="18" charset="0"/>
                <a:ea typeface="Times New Roman" charset="0"/>
                <a:cs typeface="Times New Roman" charset="0"/>
              </a:rPr>
              <a:t>GxE</a:t>
            </a:r>
            <a:endParaRPr lang="pt-BR" altLang="pt-BR" sz="2700" b="1" baseline="-25000" dirty="0">
              <a:latin typeface="Garamond" panose="02020404030301010803" pitchFamily="18" charset="0"/>
              <a:ea typeface="Times New Roman" charset="0"/>
              <a:cs typeface="Times New Roman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776732" y="1054013"/>
                <a:ext cx="6901249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57175" indent="-257175" algn="just">
                  <a:buFont typeface="Arial" charset="0"/>
                  <a:buChar char="•"/>
                </a:pPr>
                <a:r>
                  <a:rPr lang="en-US" b="1" dirty="0">
                    <a:solidFill>
                      <a:srgbClr val="FF0000"/>
                    </a:solidFill>
                    <a:latin typeface="Garamond" panose="02020404030301010803" pitchFamily="18" charset="0"/>
                    <a:ea typeface="Times New Roman" charset="0"/>
                    <a:cs typeface="Times New Roman" panose="02020603050405020304" pitchFamily="18" charset="0"/>
                  </a:rPr>
                  <a:t>Additive by Environment </a:t>
                </a:r>
              </a:p>
              <a:p>
                <a:pPr marL="257175" indent="-257175" algn="just">
                  <a:buFont typeface="Arial" charset="0"/>
                  <a:buChar char="•"/>
                </a:pPr>
                <a:r>
                  <a:rPr lang="en-US" b="1" dirty="0">
                    <a:latin typeface="Garamond" panose="02020404030301010803" pitchFamily="18" charset="0"/>
                    <a:ea typeface="Times New Roman" charset="0"/>
                    <a:cs typeface="Times New Roman" panose="02020603050405020304" pitchFamily="18" charset="0"/>
                  </a:rPr>
                  <a:t>Kronecker product</a:t>
                </a:r>
              </a:p>
              <a:p>
                <a:pPr marL="257175" indent="-257175" algn="just">
                  <a:buFont typeface="Arial" charset="0"/>
                  <a:buChar char="•"/>
                </a:pPr>
                <a:endParaRPr lang="en-US" dirty="0">
                  <a:latin typeface="Garamond" panose="02020404030301010803" pitchFamily="18" charset="0"/>
                  <a:ea typeface="Times New Roman" charset="0"/>
                  <a:cs typeface="Times New Roman" panose="02020603050405020304" pitchFamily="18" charset="0"/>
                </a:endParaRPr>
              </a:p>
              <a:p>
                <a:pPr marL="257175" indent="-257175" algn="just">
                  <a:buFont typeface="Arial" charset="0"/>
                  <a:buChar char="•"/>
                </a:pPr>
                <a:r>
                  <a:rPr lang="en-US" dirty="0">
                    <a:latin typeface="Garamond" panose="02020404030301010803" pitchFamily="18" charset="0"/>
                    <a:ea typeface="Times New Roman" charset="0"/>
                    <a:cs typeface="Times New Roman" panose="02020603050405020304" pitchFamily="18" charset="0"/>
                  </a:rPr>
                  <a:t>Environment (diagonal)</a:t>
                </a:r>
              </a:p>
              <a:p>
                <a:pPr marL="257175" indent="-257175" algn="just">
                  <a:buFont typeface="Arial" charset="0"/>
                  <a:buChar char="•"/>
                </a:pPr>
                <a14:m>
                  <m:oMath xmlns:m="http://schemas.openxmlformats.org/officeDocument/2006/math">
                    <m:r>
                      <a:rPr lang="pt-BR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⨂</m:t>
                    </m:r>
                  </m:oMath>
                </a14:m>
                <a:endParaRPr lang="en-US" dirty="0">
                  <a:latin typeface="Garamond" panose="02020404030301010803" pitchFamily="18" charset="0"/>
                  <a:ea typeface="Times New Roman" charset="0"/>
                  <a:cs typeface="Times New Roman" panose="02020603050405020304" pitchFamily="18" charset="0"/>
                </a:endParaRPr>
              </a:p>
              <a:p>
                <a:pPr marL="257175" indent="-257175" algn="just">
                  <a:buFont typeface="Arial" charset="0"/>
                  <a:buChar char="•"/>
                </a:pPr>
                <a:r>
                  <a:rPr lang="en-US" dirty="0">
                    <a:latin typeface="Garamond" panose="02020404030301010803" pitchFamily="18" charset="0"/>
                    <a:ea typeface="Times New Roman" charset="0"/>
                    <a:cs typeface="Times New Roman" panose="02020603050405020304" pitchFamily="18" charset="0"/>
                  </a:rPr>
                  <a:t>G</a:t>
                </a:r>
                <a:r>
                  <a:rPr lang="en-US" baseline="-25000" dirty="0">
                    <a:latin typeface="Garamond" panose="02020404030301010803" pitchFamily="18" charset="0"/>
                    <a:ea typeface="Times New Roman" charset="0"/>
                    <a:cs typeface="Times New Roman" panose="02020603050405020304" pitchFamily="18" charset="0"/>
                  </a:rPr>
                  <a:t>A</a:t>
                </a:r>
                <a:r>
                  <a:rPr lang="en-US" dirty="0">
                    <a:latin typeface="Garamond" panose="02020404030301010803" pitchFamily="18" charset="0"/>
                    <a:ea typeface="Times New Roman" charset="0"/>
                    <a:cs typeface="Times New Roman" panose="02020603050405020304" pitchFamily="18" charset="0"/>
                  </a:rPr>
                  <a:t> matrix</a:t>
                </a:r>
              </a:p>
              <a:p>
                <a:pPr marL="257175" indent="-257175" algn="just">
                  <a:buFont typeface="Arial" charset="0"/>
                  <a:buChar char="•"/>
                </a:pPr>
                <a:endParaRPr lang="en-US" dirty="0">
                  <a:latin typeface="Garamond" panose="02020404030301010803" pitchFamily="18" charset="0"/>
                  <a:ea typeface="Times New Roman" charset="0"/>
                  <a:cs typeface="Times New Roman" panose="02020603050405020304" pitchFamily="18" charset="0"/>
                </a:endParaRPr>
              </a:p>
              <a:p>
                <a:pPr algn="just"/>
                <a:endParaRPr lang="en-US" b="1" dirty="0">
                  <a:solidFill>
                    <a:srgbClr val="FF0000"/>
                  </a:solidFill>
                  <a:latin typeface="Garamond" panose="02020404030301010803" pitchFamily="18" charset="0"/>
                  <a:ea typeface="Times New Roman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732" y="1054013"/>
                <a:ext cx="6901249" cy="2308324"/>
              </a:xfrm>
              <a:prstGeom prst="rect">
                <a:avLst/>
              </a:prstGeom>
              <a:blipFill>
                <a:blip r:embed="rId3"/>
                <a:stretch>
                  <a:fillRect l="-367" t="-16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Picture 18">
            <a:extLst>
              <a:ext uri="{FF2B5EF4-FFF2-40B4-BE49-F238E27FC236}">
                <a16:creationId xmlns:a16="http://schemas.microsoft.com/office/drawing/2014/main" id="{750BE818-753C-1047-8FFC-6F91120BAC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8984" y="1202030"/>
            <a:ext cx="3390635" cy="119501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7E605BD-CF8D-ED46-92E5-6C04FC280D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91344" y="3471595"/>
            <a:ext cx="3267075" cy="10287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A15F9DE-4790-E44E-8BCC-1B213853746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46306" y="1768393"/>
            <a:ext cx="781050" cy="6286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42AC748-9917-6A48-8E01-E20F6FACA2E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84356" y="2610469"/>
            <a:ext cx="1504950" cy="64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051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/>
          <p:cNvSpPr txBox="1">
            <a:spLocks/>
          </p:cNvSpPr>
          <p:nvPr/>
        </p:nvSpPr>
        <p:spPr>
          <a:xfrm>
            <a:off x="1449287" y="189315"/>
            <a:ext cx="6172200" cy="651272"/>
          </a:xfrm>
          <a:prstGeom prst="rect">
            <a:avLst/>
          </a:prstGeom>
        </p:spPr>
        <p:txBody>
          <a:bodyPr vert="horz" lIns="68580" tIns="34290" rIns="68580" bIns="3429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x-none" sz="2700" b="1" dirty="0">
                <a:latin typeface="Garamond" panose="02020404030301010803" pitchFamily="18" charset="0"/>
                <a:ea typeface="Times New Roman" charset="0"/>
                <a:cs typeface="Times New Roman" charset="0"/>
              </a:rPr>
              <a:t>Epistasis</a:t>
            </a:r>
            <a:endParaRPr lang="pt-BR" altLang="pt-BR" sz="2700" b="1" dirty="0">
              <a:latin typeface="Garamond" panose="02020404030301010803" pitchFamily="18" charset="0"/>
              <a:ea typeface="Times New Roman" charset="0"/>
              <a:cs typeface="Times New Roman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64613" y="929545"/>
            <a:ext cx="6713389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7175" indent="-257175" algn="just">
              <a:buFont typeface="Arial" charset="0"/>
              <a:buChar char="•"/>
            </a:pPr>
            <a:endParaRPr lang="en-US" b="1" dirty="0">
              <a:latin typeface="Garamond" panose="02020404030301010803" pitchFamily="18" charset="0"/>
              <a:ea typeface="Times New Roman" charset="0"/>
              <a:cs typeface="Times New Roman" panose="02020603050405020304" pitchFamily="18" charset="0"/>
            </a:endParaRPr>
          </a:p>
          <a:p>
            <a:pPr marL="257175" indent="-257175" algn="just">
              <a:buFont typeface="Arial" charset="0"/>
              <a:buChar char="•"/>
            </a:pPr>
            <a:r>
              <a:rPr lang="en-US" b="1" dirty="0">
                <a:latin typeface="Garamond" panose="02020404030301010803" pitchFamily="18" charset="0"/>
                <a:ea typeface="Times New Roman" charset="0"/>
                <a:cs typeface="Times New Roman" panose="02020603050405020304" pitchFamily="18" charset="0"/>
              </a:rPr>
              <a:t>Hadamard product </a:t>
            </a:r>
            <a:r>
              <a:rPr lang="en-US" dirty="0">
                <a:latin typeface="Garamond" panose="02020404030301010803" pitchFamily="18" charset="0"/>
                <a:ea typeface="Times New Roman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latin typeface="Garamond" panose="02020404030301010803" pitchFamily="18" charset="0"/>
                <a:ea typeface="Times New Roman" charset="0"/>
                <a:cs typeface="Times New Roman" panose="02020603050405020304" pitchFamily="18" charset="0"/>
              </a:rPr>
              <a:t>Vitezica</a:t>
            </a:r>
            <a:r>
              <a:rPr lang="en-US" dirty="0">
                <a:latin typeface="Garamond" panose="02020404030301010803" pitchFamily="18" charset="0"/>
                <a:ea typeface="Times New Roman" charset="0"/>
                <a:cs typeface="Times New Roman" panose="02020603050405020304" pitchFamily="18" charset="0"/>
              </a:rPr>
              <a:t> et al., 2017</a:t>
            </a:r>
            <a:r>
              <a:rPr lang="en-US" dirty="0">
                <a:latin typeface="Garamond" panose="02020404030301010803" pitchFamily="18" charset="0"/>
              </a:rPr>
              <a:t>) </a:t>
            </a:r>
          </a:p>
          <a:p>
            <a:pPr algn="just"/>
            <a:endParaRPr lang="en-US" b="1" dirty="0">
              <a:latin typeface="Garamond" panose="02020404030301010803" pitchFamily="18" charset="0"/>
              <a:ea typeface="Times New Roman" charset="0"/>
              <a:cs typeface="Times New Roman" panose="02020603050405020304" pitchFamily="18" charset="0"/>
            </a:endParaRPr>
          </a:p>
          <a:p>
            <a:pPr marL="257175" indent="-257175" algn="just">
              <a:buFont typeface="Arial" charset="0"/>
              <a:buChar char="•"/>
            </a:pPr>
            <a:endParaRPr lang="en-US" b="1" dirty="0">
              <a:latin typeface="Garamond" panose="02020404030301010803" pitchFamily="18" charset="0"/>
              <a:ea typeface="Times New Roman" charset="0"/>
              <a:cs typeface="Times New Roman" panose="02020603050405020304" pitchFamily="18" charset="0"/>
            </a:endParaRPr>
          </a:p>
          <a:p>
            <a:pPr marL="257175" indent="-257175" algn="just">
              <a:buFont typeface="Arial" charset="0"/>
              <a:buChar char="•"/>
            </a:pPr>
            <a:endParaRPr lang="en-US" b="1" dirty="0">
              <a:latin typeface="Garamond" panose="02020404030301010803" pitchFamily="18" charset="0"/>
              <a:ea typeface="Times New Roman" charset="0"/>
              <a:cs typeface="Times New Roman" panose="02020603050405020304" pitchFamily="18" charset="0"/>
            </a:endParaRPr>
          </a:p>
          <a:p>
            <a:pPr marL="257175" indent="-257175" algn="just">
              <a:buFont typeface="Arial" charset="0"/>
              <a:buChar char="•"/>
            </a:pPr>
            <a:endParaRPr lang="en-US" b="1" dirty="0">
              <a:latin typeface="Garamond" panose="02020404030301010803" pitchFamily="18" charset="0"/>
              <a:ea typeface="Times New Roman" charset="0"/>
              <a:cs typeface="Times New Roman" panose="02020603050405020304" pitchFamily="18" charset="0"/>
            </a:endParaRPr>
          </a:p>
          <a:p>
            <a:pPr marL="257175" indent="-257175" algn="just">
              <a:buFont typeface="Arial" charset="0"/>
              <a:buChar char="•"/>
            </a:pPr>
            <a:endParaRPr lang="en-US" b="1" dirty="0">
              <a:latin typeface="Garamond" panose="02020404030301010803" pitchFamily="18" charset="0"/>
              <a:ea typeface="Times New Roman" charset="0"/>
              <a:cs typeface="Times New Roman" panose="02020603050405020304" pitchFamily="18" charset="0"/>
            </a:endParaRPr>
          </a:p>
          <a:p>
            <a:pPr marL="257175" indent="-257175" algn="just">
              <a:buFont typeface="Arial" charset="0"/>
              <a:buChar char="•"/>
            </a:pPr>
            <a:endParaRPr lang="en-US" b="1" dirty="0">
              <a:latin typeface="Garamond" panose="02020404030301010803" pitchFamily="18" charset="0"/>
              <a:ea typeface="Times New Roman" charset="0"/>
              <a:cs typeface="Times New Roman" panose="02020603050405020304" pitchFamily="18" charset="0"/>
            </a:endParaRPr>
          </a:p>
          <a:p>
            <a:pPr marL="257175" indent="-257175" algn="just">
              <a:buFont typeface="Arial" charset="0"/>
              <a:buChar char="•"/>
            </a:pPr>
            <a:endParaRPr lang="en-US" b="1" dirty="0">
              <a:latin typeface="Garamond" panose="02020404030301010803" pitchFamily="18" charset="0"/>
              <a:ea typeface="Times New Roman" charset="0"/>
              <a:cs typeface="Times New Roman" panose="02020603050405020304" pitchFamily="18" charset="0"/>
            </a:endParaRPr>
          </a:p>
          <a:p>
            <a:pPr marL="257175" indent="-257175" algn="just">
              <a:buFont typeface="Arial" charset="0"/>
              <a:buChar char="•"/>
            </a:pPr>
            <a:endParaRPr lang="en-US" b="1" dirty="0">
              <a:latin typeface="Garamond" panose="02020404030301010803" pitchFamily="18" charset="0"/>
              <a:ea typeface="Times New Roman" charset="0"/>
              <a:cs typeface="Times New Roman" panose="02020603050405020304" pitchFamily="18" charset="0"/>
            </a:endParaRPr>
          </a:p>
          <a:p>
            <a:pPr marL="257175" indent="-257175" algn="just">
              <a:buFont typeface="Arial" charset="0"/>
              <a:buChar char="•"/>
            </a:pPr>
            <a:endParaRPr lang="en-US" b="1" dirty="0">
              <a:latin typeface="Garamond" panose="02020404030301010803" pitchFamily="18" charset="0"/>
              <a:ea typeface="Times New Roman" charset="0"/>
              <a:cs typeface="Times New Roman" panose="02020603050405020304" pitchFamily="18" charset="0"/>
            </a:endParaRPr>
          </a:p>
          <a:p>
            <a:pPr marL="257175" indent="-257175" algn="just">
              <a:buFont typeface="Arial" charset="0"/>
              <a:buChar char="•"/>
            </a:pPr>
            <a:endParaRPr lang="en-US" b="1" dirty="0">
              <a:latin typeface="Garamond" panose="02020404030301010803" pitchFamily="18" charset="0"/>
              <a:ea typeface="Times New Roman" charset="0"/>
              <a:cs typeface="Times New Roman" panose="02020603050405020304" pitchFamily="18" charset="0"/>
            </a:endParaRPr>
          </a:p>
          <a:p>
            <a:pPr marL="257175" indent="-257175" algn="just">
              <a:buFont typeface="Arial" charset="0"/>
              <a:buChar char="•"/>
            </a:pPr>
            <a:endParaRPr lang="en-US" b="1" dirty="0">
              <a:latin typeface="Garamond" panose="02020404030301010803" pitchFamily="18" charset="0"/>
              <a:ea typeface="Times New Roman" charset="0"/>
              <a:cs typeface="Times New Roman" panose="02020603050405020304" pitchFamily="18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50BE818-753C-1047-8FFC-6F91120BAC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0541" y="1690186"/>
            <a:ext cx="2802178" cy="98761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3F9B7F1-AC7B-634D-B124-ED5DDAA92D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0449" y="2851575"/>
            <a:ext cx="2802269" cy="98008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708B9C9-5366-894B-BF39-E06AEAD8F9F8}"/>
                  </a:ext>
                </a:extLst>
              </p:cNvPr>
              <p:cNvSpPr txBox="1"/>
              <p:nvPr/>
            </p:nvSpPr>
            <p:spPr>
              <a:xfrm>
                <a:off x="43851" y="1705638"/>
                <a:ext cx="3370218" cy="66191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𝐶𝑜𝑣</m:t>
                      </m:r>
                      <m:r>
                        <a:rPr lang="pt-BR" b="0" i="1" baseline="-25000" smtClean="0">
                          <a:latin typeface="Cambria Math" panose="02040503050406030204" pitchFamily="18" charset="0"/>
                        </a:rPr>
                        <m:t>𝐴𝐴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  <m:r>
                            <a:rPr lang="pt-BR" b="0" i="1" baseline="-25000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⨀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  <m:r>
                            <a:rPr lang="pt-BR" i="1" baseline="-25000">
                              <a:latin typeface="Cambria Math" panose="02040503050406030204" pitchFamily="18" charset="0"/>
                            </a:rPr>
                            <m:t>𝐴</m:t>
                          </m:r>
                        </m:num>
                        <m:den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𝑡𝑟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𝐺</m:t>
                          </m:r>
                          <m:r>
                            <a:rPr lang="pt-BR" i="1" baseline="-2500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⨀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𝐺</m:t>
                          </m:r>
                          <m:r>
                            <a:rPr lang="pt-BR" i="1" baseline="-2500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)/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pt-BR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pt-BR" b="0" i="0" smtClean="0">
                          <a:latin typeface="Cambria Math" panose="02040503050406030204" pitchFamily="18" charset="0"/>
                        </a:rPr>
                        <m:t>G</m:t>
                      </m:r>
                      <m:r>
                        <a:rPr lang="pt-BR" i="1" baseline="-25000">
                          <a:latin typeface="Cambria Math" panose="02040503050406030204" pitchFamily="18" charset="0"/>
                        </a:rPr>
                        <m:t>𝐴𝐴</m:t>
                      </m:r>
                      <m:sSubSup>
                        <m:sSubSupPr>
                          <m:ctrlPr>
                            <a:rPr lang="el-G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l-G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pt-BR" i="1" baseline="-25000">
                              <a:latin typeface="Cambria Math" panose="02040503050406030204" pitchFamily="18" charset="0"/>
                            </a:rPr>
                            <m:t>𝐴𝐴</m:t>
                          </m:r>
                        </m:sub>
                        <m:sup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dirty="0">
                  <a:latin typeface="Garamond" panose="02020404030301010803" pitchFamily="18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708B9C9-5366-894B-BF39-E06AEAD8F9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51" y="1705638"/>
                <a:ext cx="3370218" cy="661912"/>
              </a:xfrm>
              <a:prstGeom prst="rect">
                <a:avLst/>
              </a:prstGeom>
              <a:blipFill>
                <a:blip r:embed="rId5"/>
                <a:stretch>
                  <a:fillRect b="-75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70BB2C8-9C3D-6F4B-B94B-48C8E225CA71}"/>
                  </a:ext>
                </a:extLst>
              </p:cNvPr>
              <p:cNvSpPr txBox="1"/>
              <p:nvPr/>
            </p:nvSpPr>
            <p:spPr>
              <a:xfrm>
                <a:off x="43851" y="2958166"/>
                <a:ext cx="3629391" cy="66191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𝐶𝑜𝑣</m:t>
                      </m:r>
                      <m:r>
                        <a:rPr lang="pt-BR" i="1" baseline="-25000">
                          <a:latin typeface="Cambria Math" panose="02040503050406030204" pitchFamily="18" charset="0"/>
                        </a:rPr>
                        <m:t>𝐷𝐷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  <m:r>
                            <a:rPr lang="pt-BR" b="0" i="1" baseline="-25000" smtClean="0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⨀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  <m:r>
                            <a:rPr lang="pt-BR" i="1" baseline="-25000">
                              <a:latin typeface="Cambria Math" panose="02040503050406030204" pitchFamily="18" charset="0"/>
                            </a:rPr>
                            <m:t>𝐷</m:t>
                          </m:r>
                        </m:num>
                        <m:den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𝑡𝑟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𝐺</m:t>
                          </m:r>
                          <m:r>
                            <a:rPr lang="pt-BR" i="1" baseline="-25000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⨀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𝐺</m:t>
                          </m:r>
                          <m:r>
                            <a:rPr lang="pt-BR" i="1" baseline="-25000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)/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pt-BR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pt-BR" b="0" i="0" smtClean="0">
                          <a:latin typeface="Cambria Math" panose="02040503050406030204" pitchFamily="18" charset="0"/>
                        </a:rPr>
                        <m:t>GDD</m:t>
                      </m:r>
                      <m:sSubSup>
                        <m:sSubSupPr>
                          <m:ctrlPr>
                            <a:rPr lang="el-G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l-G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𝐷𝐷</m:t>
                          </m:r>
                        </m:sub>
                        <m:sup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70BB2C8-9C3D-6F4B-B94B-48C8E225CA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51" y="2958166"/>
                <a:ext cx="3629391" cy="661912"/>
              </a:xfrm>
              <a:prstGeom prst="rect">
                <a:avLst/>
              </a:prstGeom>
              <a:blipFill>
                <a:blip r:embed="rId6"/>
                <a:stretch>
                  <a:fillRect b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35FF324-7D6B-2344-8519-329F19EAD234}"/>
                  </a:ext>
                </a:extLst>
              </p:cNvPr>
              <p:cNvSpPr txBox="1"/>
              <p:nvPr/>
            </p:nvSpPr>
            <p:spPr>
              <a:xfrm>
                <a:off x="43851" y="4102804"/>
                <a:ext cx="3579763" cy="66191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𝐶𝑜𝑣</m:t>
                      </m:r>
                      <m:r>
                        <a:rPr lang="pt-BR" b="0" i="1" baseline="-25000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pt-BR" i="1" baseline="-2500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  <m:r>
                            <a:rPr lang="pt-BR" b="0" i="1" baseline="-25000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⨀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  <m:r>
                            <a:rPr lang="pt-BR" i="1" baseline="-25000">
                              <a:latin typeface="Cambria Math" panose="02040503050406030204" pitchFamily="18" charset="0"/>
                            </a:rPr>
                            <m:t>𝐷</m:t>
                          </m:r>
                        </m:num>
                        <m:den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𝑡𝑟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𝐺</m:t>
                          </m:r>
                          <m:r>
                            <a:rPr lang="pt-BR" b="0" i="1" baseline="-25000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⨀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𝐺</m:t>
                          </m:r>
                          <m:r>
                            <a:rPr lang="pt-BR" i="1" baseline="-25000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)/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pt-BR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pt-BR" b="0" i="0" smtClean="0">
                          <a:latin typeface="Cambria Math" panose="02040503050406030204" pitchFamily="18" charset="0"/>
                        </a:rPr>
                        <m:t>GAD</m:t>
                      </m:r>
                      <m:sSubSup>
                        <m:sSubSupPr>
                          <m:ctrlPr>
                            <a:rPr lang="el-G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l-G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𝐴𝐷</m:t>
                          </m:r>
                        </m:sub>
                        <m:sup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35FF324-7D6B-2344-8519-329F19EAD2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51" y="4102804"/>
                <a:ext cx="3579763" cy="661912"/>
              </a:xfrm>
              <a:prstGeom prst="rect">
                <a:avLst/>
              </a:prstGeom>
              <a:blipFill>
                <a:blip r:embed="rId7"/>
                <a:stretch>
                  <a:fillRect b="-75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71E6533C-BB08-4E4F-A8FA-0760B47D036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69741" y="1690186"/>
            <a:ext cx="2521721" cy="99136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F43A308-FCAC-D24D-84EA-A26287A7C44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69741" y="2846314"/>
            <a:ext cx="2521721" cy="100098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854C54D-9BBF-3C4B-93D9-952F7B65D17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69741" y="4002538"/>
            <a:ext cx="2521721" cy="891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216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5" grpId="0"/>
      <p:bldP spid="1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/>
          <p:cNvSpPr txBox="1">
            <a:spLocks/>
          </p:cNvSpPr>
          <p:nvPr/>
        </p:nvSpPr>
        <p:spPr>
          <a:xfrm>
            <a:off x="1449287" y="189315"/>
            <a:ext cx="6172200" cy="651272"/>
          </a:xfrm>
          <a:prstGeom prst="rect">
            <a:avLst/>
          </a:prstGeom>
        </p:spPr>
        <p:txBody>
          <a:bodyPr vert="horz" lIns="68580" tIns="34290" rIns="68580" bIns="3429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x-none" sz="2700" b="1" dirty="0">
                <a:latin typeface="Garamond" panose="02020404030301010803" pitchFamily="18" charset="0"/>
                <a:ea typeface="Times New Roman" charset="0"/>
                <a:cs typeface="Times New Roman" charset="0"/>
              </a:rPr>
              <a:t>SCA</a:t>
            </a:r>
            <a:endParaRPr lang="pt-BR" altLang="pt-BR" sz="2700" b="1" dirty="0">
              <a:latin typeface="Garamond" panose="02020404030301010803" pitchFamily="18" charset="0"/>
              <a:ea typeface="Times New Roman" charset="0"/>
              <a:cs typeface="Times New Roman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64613" y="929545"/>
                <a:ext cx="6713389" cy="30469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57175" indent="-257175" algn="just">
                  <a:buFont typeface="Arial" charset="0"/>
                  <a:buChar char="•"/>
                </a:pPr>
                <a:endParaRPr lang="en-US" b="1" dirty="0">
                  <a:latin typeface="Garamond" panose="02020404030301010803" pitchFamily="18" charset="0"/>
                  <a:ea typeface="Times New Roman" charset="0"/>
                  <a:cs typeface="Times New Roman" panose="02020603050405020304" pitchFamily="18" charset="0"/>
                </a:endParaRPr>
              </a:p>
              <a:p>
                <a:pPr marL="257175" indent="-257175" algn="just">
                  <a:buFont typeface="Arial" charset="0"/>
                  <a:buChar char="•"/>
                </a:pPr>
                <a:r>
                  <a:rPr lang="en-US" b="1" dirty="0">
                    <a:latin typeface="Garamond" panose="02020404030301010803" pitchFamily="18" charset="0"/>
                    <a:ea typeface="Times New Roman" charset="0"/>
                    <a:cs typeface="Times New Roman" panose="02020603050405020304" pitchFamily="18" charset="0"/>
                  </a:rPr>
                  <a:t>Kronecker product </a:t>
                </a:r>
                <a:r>
                  <a:rPr lang="en-US" dirty="0">
                    <a:latin typeface="Garamond" panose="02020404030301010803" pitchFamily="18" charset="0"/>
                    <a:ea typeface="Times New Roman" charset="0"/>
                    <a:cs typeface="Times New Roman" panose="02020603050405020304" pitchFamily="18" charset="0"/>
                  </a:rPr>
                  <a:t>(</a:t>
                </a:r>
                <a:r>
                  <a:rPr lang="en-US" dirty="0" err="1">
                    <a:latin typeface="Garamond" panose="02020404030301010803" pitchFamily="18" charset="0"/>
                    <a:ea typeface="Times New Roman" charset="0"/>
                    <a:cs typeface="Times New Roman" panose="02020603050405020304" pitchFamily="18" charset="0"/>
                  </a:rPr>
                  <a:t>Lópes</a:t>
                </a:r>
                <a:r>
                  <a:rPr lang="en-US" dirty="0">
                    <a:latin typeface="Garamond" panose="02020404030301010803" pitchFamily="18" charset="0"/>
                    <a:ea typeface="Times New Roman" charset="0"/>
                    <a:cs typeface="Times New Roman" panose="02020603050405020304" pitchFamily="18" charset="0"/>
                  </a:rPr>
                  <a:t>-Cruz et al., 2015</a:t>
                </a:r>
                <a:r>
                  <a:rPr lang="en-US" dirty="0">
                    <a:latin typeface="Garamond" panose="02020404030301010803" pitchFamily="18" charset="0"/>
                  </a:rPr>
                  <a:t>)</a:t>
                </a:r>
              </a:p>
              <a:p>
                <a:pPr marL="257175" indent="-257175" algn="just">
                  <a:buFont typeface="Arial" charset="0"/>
                  <a:buChar char="•"/>
                </a:pPr>
                <a:endParaRPr lang="en-US" dirty="0">
                  <a:latin typeface="Garamond" panose="02020404030301010803" pitchFamily="18" charset="0"/>
                </a:endParaRPr>
              </a:p>
              <a:p>
                <a:pPr marL="257175" indent="-257175" algn="just">
                  <a:buFont typeface="Arial" charset="0"/>
                  <a:buChar char="•"/>
                </a:pPr>
                <a:r>
                  <a:rPr lang="en-US" dirty="0">
                    <a:latin typeface="Garamond" panose="02020404030301010803" pitchFamily="18" charset="0"/>
                  </a:rPr>
                  <a:t>G</a:t>
                </a:r>
                <a:r>
                  <a:rPr lang="en-US" baseline="-25000" dirty="0">
                    <a:latin typeface="Garamond" panose="02020404030301010803" pitchFamily="18" charset="0"/>
                  </a:rPr>
                  <a:t>1</a:t>
                </a:r>
                <a:r>
                  <a:rPr lang="en-US" dirty="0">
                    <a:latin typeface="Garamond" panose="02020404030301010803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⨂</m:t>
                    </m:r>
                  </m:oMath>
                </a14:m>
                <a:r>
                  <a:rPr lang="en-US" dirty="0">
                    <a:latin typeface="Garamond" panose="02020404030301010803" pitchFamily="18" charset="0"/>
                  </a:rPr>
                  <a:t> G</a:t>
                </a:r>
                <a:r>
                  <a:rPr lang="en-US" baseline="-25000" dirty="0">
                    <a:latin typeface="Garamond" panose="02020404030301010803" pitchFamily="18" charset="0"/>
                  </a:rPr>
                  <a:t>2</a:t>
                </a:r>
              </a:p>
              <a:p>
                <a:pPr marL="257175" indent="-257175" algn="just">
                  <a:buFont typeface="Arial" charset="0"/>
                  <a:buChar char="•"/>
                </a:pPr>
                <a:endParaRPr lang="en-US" baseline="-25000" dirty="0">
                  <a:latin typeface="Garamond" panose="02020404030301010803" pitchFamily="18" charset="0"/>
                </a:endParaRPr>
              </a:p>
              <a:p>
                <a:pPr marL="257175" indent="-257175" algn="just">
                  <a:buFont typeface="Arial" charset="0"/>
                  <a:buChar char="•"/>
                </a:pPr>
                <a:r>
                  <a:rPr lang="en-US" dirty="0">
                    <a:latin typeface="Garamond" panose="02020404030301010803" pitchFamily="18" charset="0"/>
                    <a:ea typeface="Times New Roman" charset="0"/>
                    <a:cs typeface="Times New Roman" panose="02020603050405020304" pitchFamily="18" charset="0"/>
                  </a:rPr>
                  <a:t>Females </a:t>
                </a:r>
                <a14:m>
                  <m:oMath xmlns:m="http://schemas.openxmlformats.org/officeDocument/2006/math">
                    <m:r>
                      <a:rPr lang="pt-BR">
                        <a:latin typeface="Cambria Math" panose="02040503050406030204" pitchFamily="18" charset="0"/>
                        <a:ea typeface="Times New Roman" charset="0"/>
                        <a:cs typeface="Times New Roman" panose="02020603050405020304" pitchFamily="18" charset="0"/>
                      </a:rPr>
                      <m:t>⨂</m:t>
                    </m:r>
                  </m:oMath>
                </a14:m>
                <a:r>
                  <a:rPr lang="en-US" dirty="0">
                    <a:latin typeface="Garamond" panose="02020404030301010803" pitchFamily="18" charset="0"/>
                    <a:ea typeface="Times New Roman" charset="0"/>
                    <a:cs typeface="Times New Roman" panose="02020603050405020304" pitchFamily="18" charset="0"/>
                  </a:rPr>
                  <a:t> Males</a:t>
                </a:r>
              </a:p>
              <a:p>
                <a:pPr marL="257175" indent="-257175" algn="just">
                  <a:buFont typeface="Arial" charset="0"/>
                  <a:buChar char="•"/>
                </a:pPr>
                <a:endParaRPr lang="en-US" dirty="0">
                  <a:latin typeface="Garamond" panose="02020404030301010803" pitchFamily="18" charset="0"/>
                  <a:ea typeface="Times New Roman" charset="0"/>
                  <a:cs typeface="Times New Roman" panose="02020603050405020304" pitchFamily="18" charset="0"/>
                </a:endParaRPr>
              </a:p>
              <a:p>
                <a:pPr marL="257175" indent="-257175" algn="just">
                  <a:buFont typeface="Arial" charset="0"/>
                  <a:buChar char="•"/>
                </a:pPr>
                <a:r>
                  <a:rPr lang="en-US" dirty="0">
                    <a:latin typeface="Garamond" panose="02020404030301010803" pitchFamily="18" charset="0"/>
                    <a:ea typeface="Times New Roman" charset="0"/>
                    <a:cs typeface="Times New Roman" panose="02020603050405020304" pitchFamily="18" charset="0"/>
                  </a:rPr>
                  <a:t>SCA &lt;- </a:t>
                </a:r>
                <a:r>
                  <a:rPr lang="en-US" dirty="0" err="1">
                    <a:latin typeface="Garamond" panose="02020404030301010803" pitchFamily="18" charset="0"/>
                    <a:ea typeface="Times New Roman" charset="0"/>
                    <a:cs typeface="Times New Roman" panose="02020603050405020304" pitchFamily="18" charset="0"/>
                  </a:rPr>
                  <a:t>kronecker</a:t>
                </a:r>
                <a:r>
                  <a:rPr lang="en-US" dirty="0">
                    <a:latin typeface="Garamond" panose="02020404030301010803" pitchFamily="18" charset="0"/>
                    <a:ea typeface="Times New Roman" charset="0"/>
                    <a:cs typeface="Times New Roman" panose="02020603050405020304" pitchFamily="18" charset="0"/>
                  </a:rPr>
                  <a:t>(</a:t>
                </a:r>
                <a:r>
                  <a:rPr lang="en-US" dirty="0" err="1">
                    <a:latin typeface="Garamond" panose="02020404030301010803" pitchFamily="18" charset="0"/>
                    <a:ea typeface="Times New Roman" charset="0"/>
                    <a:cs typeface="Times New Roman" panose="02020603050405020304" pitchFamily="18" charset="0"/>
                  </a:rPr>
                  <a:t>Ga.male</a:t>
                </a:r>
                <a:r>
                  <a:rPr lang="en-US" dirty="0">
                    <a:latin typeface="Garamond" panose="02020404030301010803" pitchFamily="18" charset="0"/>
                    <a:ea typeface="Times New Roman" charset="0"/>
                    <a:cs typeface="Times New Roman" panose="02020603050405020304" pitchFamily="18" charset="0"/>
                  </a:rPr>
                  <a:t>, </a:t>
                </a:r>
                <a:r>
                  <a:rPr lang="en-US" dirty="0" err="1">
                    <a:latin typeface="Garamond" panose="02020404030301010803" pitchFamily="18" charset="0"/>
                    <a:ea typeface="Times New Roman" charset="0"/>
                    <a:cs typeface="Times New Roman" panose="02020603050405020304" pitchFamily="18" charset="0"/>
                  </a:rPr>
                  <a:t>Ga.female</a:t>
                </a:r>
                <a:r>
                  <a:rPr lang="en-US" dirty="0">
                    <a:latin typeface="Garamond" panose="02020404030301010803" pitchFamily="18" charset="0"/>
                    <a:ea typeface="Times New Roman" charset="0"/>
                    <a:cs typeface="Times New Roman" panose="02020603050405020304" pitchFamily="18" charset="0"/>
                  </a:rPr>
                  <a:t>)</a:t>
                </a:r>
              </a:p>
              <a:p>
                <a:pPr marL="257175" indent="-257175" algn="just">
                  <a:buFont typeface="Arial" charset="0"/>
                  <a:buChar char="•"/>
                </a:pPr>
                <a:endParaRPr lang="en-US" dirty="0">
                  <a:latin typeface="Garamond" panose="02020404030301010803" pitchFamily="18" charset="0"/>
                  <a:ea typeface="Times New Roman" charset="0"/>
                  <a:cs typeface="Times New Roman" panose="02020603050405020304" pitchFamily="18" charset="0"/>
                </a:endParaRPr>
              </a:p>
              <a:p>
                <a:pPr marL="257175" indent="-257175" algn="just">
                  <a:buFont typeface="Arial" charset="0"/>
                  <a:buChar char="•"/>
                </a:pPr>
                <a:r>
                  <a:rPr lang="en-US" dirty="0">
                    <a:latin typeface="Garamond" panose="02020404030301010803" pitchFamily="18" charset="0"/>
                    <a:ea typeface="Times New Roman" charset="0"/>
                    <a:cs typeface="Times New Roman" panose="02020603050405020304" pitchFamily="18" charset="0"/>
                  </a:rPr>
                  <a:t>Generates all possible hybrids in silicon</a:t>
                </a:r>
              </a:p>
              <a:p>
                <a:pPr algn="just"/>
                <a:endParaRPr lang="en-US" b="1" dirty="0">
                  <a:solidFill>
                    <a:srgbClr val="FF0000"/>
                  </a:solidFill>
                  <a:latin typeface="Garamond" panose="02020404030301010803" pitchFamily="18" charset="0"/>
                  <a:ea typeface="Times New Roman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613" y="929545"/>
                <a:ext cx="6713389" cy="3046988"/>
              </a:xfrm>
              <a:prstGeom prst="rect">
                <a:avLst/>
              </a:prstGeom>
              <a:blipFill>
                <a:blip r:embed="rId3"/>
                <a:stretch>
                  <a:fillRect l="-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073D9A0A-4D6E-D549-835A-4C43193D48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7470" y="1546082"/>
            <a:ext cx="1524000" cy="58102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420908A-344E-5B42-9716-ADED9908B605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2147"/>
          <a:stretch/>
        </p:blipFill>
        <p:spPr>
          <a:xfrm>
            <a:off x="7220296" y="1546082"/>
            <a:ext cx="1619848" cy="5810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7D7A88E-7D8B-194F-BF36-32314A556B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10503" y="2571750"/>
            <a:ext cx="3680483" cy="1362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7803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NCStateU-horizontal-left-logo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NCStateU-horizontal-left-logo</Template>
  <TotalTime>284</TotalTime>
  <Words>223</Words>
  <Application>Microsoft Macintosh PowerPoint</Application>
  <PresentationFormat>On-screen Show (16:9)</PresentationFormat>
  <Paragraphs>90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Arial</vt:lpstr>
      <vt:lpstr>Calibri</vt:lpstr>
      <vt:lpstr>Cambria Math</vt:lpstr>
      <vt:lpstr>Garamond</vt:lpstr>
      <vt:lpstr>NCStateU-horizontal-left-logo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Roberto Fritsche Neto</dc:creator>
  <cp:lastModifiedBy>Roberto Fritsche Neto</cp:lastModifiedBy>
  <cp:revision>71</cp:revision>
  <dcterms:created xsi:type="dcterms:W3CDTF">2025-05-02T14:01:45Z</dcterms:created>
  <dcterms:modified xsi:type="dcterms:W3CDTF">2026-06-02T19:16:29Z</dcterms:modified>
</cp:coreProperties>
</file>